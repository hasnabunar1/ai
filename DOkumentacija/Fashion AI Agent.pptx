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7"/>
  </p:notesMasterIdLst>
  <p:sldIdLst>
    <p:sldId id="256" r:id="rId2"/>
    <p:sldId id="28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2865F-80F9-4097-9BAB-EB31E15E45FD}" type="datetimeFigureOut">
              <a:rPr lang="hr-HR" smtClean="0"/>
              <a:t>14.1.2026.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03B51-5395-4482-86B0-CD06EBDA857D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40675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94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97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65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43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6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9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16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22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48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5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0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2D1B33DE-658E-46F7-A217-30249E82FA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7D064F0-6D2A-219C-C000-14ABD99EC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72F92A-6910-09B2-2904-97D978EF3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1" y="822960"/>
            <a:ext cx="4286054" cy="3474720"/>
          </a:xfrm>
        </p:spPr>
        <p:txBody>
          <a:bodyPr anchor="b">
            <a:normAutofit/>
          </a:bodyPr>
          <a:lstStyle/>
          <a:p>
            <a:pPr algn="l"/>
            <a:r>
              <a:rPr lang="hr-HR" sz="5200" dirty="0"/>
              <a:t>Fashion AI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D31719-D08E-5A4B-5E55-827F502DB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1" y="4419600"/>
            <a:ext cx="3931920" cy="1386840"/>
          </a:xfrm>
        </p:spPr>
        <p:txBody>
          <a:bodyPr anchor="t">
            <a:normAutofit lnSpcReduction="10000"/>
          </a:bodyPr>
          <a:lstStyle/>
          <a:p>
            <a:pPr algn="l"/>
            <a:r>
              <a:rPr lang="hr-HR" sz="2200" dirty="0"/>
              <a:t>UMJETNA INTELIGENCIJA</a:t>
            </a:r>
          </a:p>
          <a:p>
            <a:pPr algn="l"/>
            <a:r>
              <a:rPr lang="hr-HR" sz="2200" dirty="0"/>
              <a:t>Prof. sc. Nina Bijedić</a:t>
            </a:r>
            <a:br>
              <a:rPr lang="hr-HR" sz="2200"/>
            </a:br>
            <a:r>
              <a:rPr lang="hr-HR" sz="2200"/>
              <a:t>Hasna </a:t>
            </a:r>
            <a:r>
              <a:rPr lang="hr-HR" sz="2200" dirty="0"/>
              <a:t>Bunar </a:t>
            </a:r>
          </a:p>
        </p:txBody>
      </p:sp>
    </p:spTree>
    <p:extLst>
      <p:ext uri="{BB962C8B-B14F-4D97-AF65-F5344CB8AC3E}">
        <p14:creationId xmlns:p14="http://schemas.microsoft.com/office/powerpoint/2010/main" val="27788827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3F52F-BF47-7AC3-3D11-00E893B4F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EA0A492A-7F25-33C1-48D3-FD6946D076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F4D69A-997E-A4B3-D049-10F6CF0E3CA6}"/>
              </a:ext>
            </a:extLst>
          </p:cNvPr>
          <p:cNvSpPr txBox="1"/>
          <p:nvPr/>
        </p:nvSpPr>
        <p:spPr>
          <a:xfrm>
            <a:off x="4047807" y="524211"/>
            <a:ext cx="3215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34EC4A-C6BD-B574-26A1-701C39892AB2}"/>
              </a:ext>
            </a:extLst>
          </p:cNvPr>
          <p:cNvSpPr txBox="1"/>
          <p:nvPr/>
        </p:nvSpPr>
        <p:spPr>
          <a:xfrm>
            <a:off x="2075290" y="1836752"/>
            <a:ext cx="7457491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r-HR" sz="3200" dirty="0">
                <a:solidFill>
                  <a:schemeClr val="bg1"/>
                </a:solidFill>
              </a:rPr>
              <a:t>Uvod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3200" dirty="0">
                <a:solidFill>
                  <a:schemeClr val="bg1"/>
                </a:solidFill>
              </a:rPr>
              <a:t> Klasifikacija agenta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3200" dirty="0">
                <a:solidFill>
                  <a:schemeClr val="bg1"/>
                </a:solidFill>
              </a:rPr>
              <a:t>Arhitektura sistema 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3200" dirty="0" err="1">
                <a:solidFill>
                  <a:schemeClr val="bg1"/>
                </a:solidFill>
              </a:rPr>
              <a:t>Sense</a:t>
            </a:r>
            <a:r>
              <a:rPr lang="hr-HR" sz="3200" dirty="0">
                <a:solidFill>
                  <a:schemeClr val="bg1"/>
                </a:solidFill>
              </a:rPr>
              <a:t> </a:t>
            </a:r>
            <a:r>
              <a:rPr lang="hr-HR" sz="32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hr-HR" sz="3200" dirty="0">
                <a:solidFill>
                  <a:schemeClr val="bg1"/>
                </a:solidFill>
              </a:rPr>
              <a:t> </a:t>
            </a:r>
            <a:r>
              <a:rPr lang="hr-HR" sz="3200" dirty="0" err="1">
                <a:solidFill>
                  <a:schemeClr val="bg1"/>
                </a:solidFill>
              </a:rPr>
              <a:t>Think</a:t>
            </a:r>
            <a:r>
              <a:rPr lang="hr-HR" sz="3200" dirty="0">
                <a:solidFill>
                  <a:schemeClr val="bg1"/>
                </a:solidFill>
              </a:rPr>
              <a:t> </a:t>
            </a:r>
            <a:r>
              <a:rPr lang="hr-HR" sz="32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hr-HR" sz="3200" dirty="0" err="1">
                <a:solidFill>
                  <a:schemeClr val="bg1"/>
                </a:solidFill>
              </a:rPr>
              <a:t>Act</a:t>
            </a:r>
            <a:r>
              <a:rPr lang="hr-HR" sz="3200" dirty="0">
                <a:solidFill>
                  <a:schemeClr val="bg1"/>
                </a:solidFill>
              </a:rPr>
              <a:t> </a:t>
            </a:r>
            <a:r>
              <a:rPr lang="hr-HR" sz="32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hr-HR" sz="3200" dirty="0" err="1">
                <a:solidFill>
                  <a:schemeClr val="bg1"/>
                </a:solidFill>
              </a:rPr>
              <a:t>Learn</a:t>
            </a:r>
            <a:r>
              <a:rPr lang="hr-HR" sz="3200" dirty="0">
                <a:solidFill>
                  <a:schemeClr val="bg1"/>
                </a:solidFill>
              </a:rPr>
              <a:t> Ciklus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3200" dirty="0">
                <a:solidFill>
                  <a:schemeClr val="bg1"/>
                </a:solidFill>
              </a:rPr>
              <a:t>Tehnologija i ML Model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3200" dirty="0">
                <a:solidFill>
                  <a:schemeClr val="bg1"/>
                </a:solidFill>
              </a:rPr>
              <a:t>Demo</a:t>
            </a:r>
          </a:p>
          <a:p>
            <a:pPr marL="342900" indent="-342900">
              <a:buFont typeface="+mj-lt"/>
              <a:buAutoNum type="arabicPeriod"/>
            </a:pPr>
            <a:r>
              <a:rPr lang="hr-HR" sz="3200" dirty="0">
                <a:solidFill>
                  <a:schemeClr val="bg1"/>
                </a:solidFill>
              </a:rPr>
              <a:t>Future </a:t>
            </a:r>
            <a:r>
              <a:rPr lang="hr-HR" sz="3200" dirty="0" err="1">
                <a:solidFill>
                  <a:schemeClr val="bg1"/>
                </a:solidFill>
              </a:rPr>
              <a:t>Work</a:t>
            </a:r>
            <a:r>
              <a:rPr lang="hr-HR" sz="3200" dirty="0">
                <a:solidFill>
                  <a:schemeClr val="bg1"/>
                </a:solidFill>
              </a:rPr>
              <a:t> i zaključak  </a:t>
            </a:r>
          </a:p>
          <a:p>
            <a:r>
              <a:rPr lang="hr-HR" sz="32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3560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0230086E-6762-25CB-6899-AB8BFBBC38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EC8903-B297-ED35-8297-4715F0A1C60F}"/>
              </a:ext>
            </a:extLst>
          </p:cNvPr>
          <p:cNvSpPr txBox="1"/>
          <p:nvPr/>
        </p:nvSpPr>
        <p:spPr>
          <a:xfrm>
            <a:off x="445273" y="1470991"/>
            <a:ext cx="475803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                     </a:t>
            </a:r>
            <a:r>
              <a:rPr lang="hr-HR" sz="3600" dirty="0">
                <a:solidFill>
                  <a:schemeClr val="bg1"/>
                </a:solidFill>
              </a:rPr>
              <a:t>PROBLEM </a:t>
            </a:r>
            <a:br>
              <a:rPr lang="hr-HR" dirty="0">
                <a:solidFill>
                  <a:schemeClr val="bg1"/>
                </a:solidFill>
              </a:rPr>
            </a:br>
            <a:br>
              <a:rPr lang="hr-HR" dirty="0">
                <a:solidFill>
                  <a:schemeClr val="bg1"/>
                </a:solidFill>
              </a:rPr>
            </a:b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Modna industrija se suočava sa izazovima: </a:t>
            </a:r>
            <a:br>
              <a:rPr lang="hr-HR" dirty="0">
                <a:solidFill>
                  <a:schemeClr val="bg1"/>
                </a:solidFill>
              </a:rPr>
            </a:b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-Ručna analiza trendova je spora </a:t>
            </a:r>
          </a:p>
          <a:p>
            <a:r>
              <a:rPr lang="hr-HR" dirty="0">
                <a:solidFill>
                  <a:schemeClr val="bg1"/>
                </a:solidFill>
              </a:rPr>
              <a:t>-Ljudske procjene su subjektivne 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-Statički modeli brzo zastarijevaju</a:t>
            </a:r>
          </a:p>
          <a:p>
            <a:r>
              <a:rPr lang="hr-HR" dirty="0">
                <a:solidFill>
                  <a:schemeClr val="bg1"/>
                </a:solidFill>
              </a:rPr>
              <a:t>-Nedostaje personalizacije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7F2437-1F5E-9416-ABF0-E2B2D257F9A9}"/>
              </a:ext>
            </a:extLst>
          </p:cNvPr>
          <p:cNvSpPr txBox="1"/>
          <p:nvPr/>
        </p:nvSpPr>
        <p:spPr>
          <a:xfrm>
            <a:off x="6096000" y="1542554"/>
            <a:ext cx="389080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             </a:t>
            </a:r>
            <a:r>
              <a:rPr lang="hr-HR" sz="3600" dirty="0">
                <a:solidFill>
                  <a:schemeClr val="bg1"/>
                </a:solidFill>
              </a:rPr>
              <a:t>RJEŠENJE </a:t>
            </a:r>
            <a:br>
              <a:rPr lang="hr-HR" dirty="0">
                <a:solidFill>
                  <a:schemeClr val="bg1"/>
                </a:solidFill>
              </a:rPr>
            </a:br>
            <a:br>
              <a:rPr lang="hr-HR" dirty="0">
                <a:solidFill>
                  <a:schemeClr val="bg1"/>
                </a:solidFill>
              </a:rPr>
            </a:b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Fashion  AI agent</a:t>
            </a:r>
            <a:br>
              <a:rPr lang="hr-HR" dirty="0">
                <a:solidFill>
                  <a:schemeClr val="bg1"/>
                </a:solidFill>
              </a:rPr>
            </a:b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-Autonomni softverski agent 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-ML – bazirane predikcija 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-Kontinuirano učenje iz </a:t>
            </a:r>
            <a:r>
              <a:rPr lang="hr-HR" dirty="0" err="1">
                <a:solidFill>
                  <a:schemeClr val="bg1"/>
                </a:solidFill>
              </a:rPr>
              <a:t>feedbacka</a:t>
            </a:r>
            <a:r>
              <a:rPr lang="hr-HR" dirty="0">
                <a:solidFill>
                  <a:schemeClr val="bg1"/>
                </a:solidFill>
              </a:rPr>
              <a:t> 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-Personalizirane preporuke -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93A5F5-37A5-A9EE-F9CC-7D417BA2E1C5}"/>
              </a:ext>
            </a:extLst>
          </p:cNvPr>
          <p:cNvSpPr/>
          <p:nvPr/>
        </p:nvSpPr>
        <p:spPr>
          <a:xfrm>
            <a:off x="350679" y="1192696"/>
            <a:ext cx="4758034" cy="3896139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D675CF-8BFB-CDC3-0609-231807239A4B}"/>
              </a:ext>
            </a:extLst>
          </p:cNvPr>
          <p:cNvSpPr/>
          <p:nvPr/>
        </p:nvSpPr>
        <p:spPr>
          <a:xfrm>
            <a:off x="5591914" y="1192695"/>
            <a:ext cx="4758034" cy="3896139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71012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EBB98-14CE-6A01-0892-A45FBA153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BD5B3A2F-7457-948C-B312-C4A8BB4F2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F2C87B-E577-49B3-BFF5-521E7A589822}"/>
              </a:ext>
            </a:extLst>
          </p:cNvPr>
          <p:cNvSpPr txBox="1"/>
          <p:nvPr/>
        </p:nvSpPr>
        <p:spPr>
          <a:xfrm>
            <a:off x="2401314" y="741460"/>
            <a:ext cx="5967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 KLASIFIKACIJA AGENTA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5BEB09-0E1D-AD9A-3A3D-D375187A7133}"/>
              </a:ext>
            </a:extLst>
          </p:cNvPr>
          <p:cNvSpPr txBox="1"/>
          <p:nvPr/>
        </p:nvSpPr>
        <p:spPr>
          <a:xfrm>
            <a:off x="2639396" y="2662794"/>
            <a:ext cx="46762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Tip: LEARNING AGENT (Russell &amp; </a:t>
            </a:r>
            <a:r>
              <a:rPr lang="hr-HR" dirty="0" err="1">
                <a:solidFill>
                  <a:schemeClr val="bg1"/>
                </a:solidFill>
              </a:rPr>
              <a:t>Norvig</a:t>
            </a:r>
            <a:r>
              <a:rPr lang="hr-HR" dirty="0">
                <a:solidFill>
                  <a:schemeClr val="bg1"/>
                </a:solidFill>
              </a:rPr>
              <a:t>)</a:t>
            </a:r>
            <a:br>
              <a:rPr lang="hr-HR" dirty="0">
                <a:solidFill>
                  <a:schemeClr val="bg1"/>
                </a:solidFill>
              </a:rPr>
            </a:br>
            <a:br>
              <a:rPr lang="hr-HR" sz="1100" dirty="0">
                <a:solidFill>
                  <a:schemeClr val="bg1"/>
                </a:solidFill>
              </a:rPr>
            </a:br>
            <a:endParaRPr lang="hr-HR" sz="11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11CECC-A185-4B5D-6A1B-1329702F369F}"/>
              </a:ext>
            </a:extLst>
          </p:cNvPr>
          <p:cNvSpPr txBox="1"/>
          <p:nvPr/>
        </p:nvSpPr>
        <p:spPr>
          <a:xfrm>
            <a:off x="556591" y="3222443"/>
            <a:ext cx="104519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hr-HR" dirty="0">
                <a:solidFill>
                  <a:schemeClr val="bg1"/>
                </a:solidFill>
              </a:rPr>
            </a:br>
            <a:r>
              <a:rPr lang="hr-HR" dirty="0" err="1">
                <a:solidFill>
                  <a:schemeClr val="bg1"/>
                </a:solidFill>
              </a:rPr>
              <a:t>Performance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Standar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hr-HR" dirty="0" err="1">
                <a:solidFill>
                  <a:schemeClr val="bg1"/>
                </a:solidFill>
                <a:sym typeface="Wingdings" panose="05000000000000000000" pitchFamily="2" charset="2"/>
              </a:rPr>
              <a:t>Critics</a:t>
            </a: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(</a:t>
            </a:r>
            <a:r>
              <a:rPr lang="hr-HR" dirty="0" err="1">
                <a:solidFill>
                  <a:schemeClr val="bg1"/>
                </a:solidFill>
                <a:sym typeface="Wingdings" panose="05000000000000000000" pitchFamily="2" charset="2"/>
              </a:rPr>
              <a:t>Feedback</a:t>
            </a: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)  </a:t>
            </a:r>
            <a:r>
              <a:rPr lang="hr-HR" dirty="0" err="1">
                <a:solidFill>
                  <a:schemeClr val="bg1"/>
                </a:solidFill>
                <a:sym typeface="Wingdings" panose="05000000000000000000" pitchFamily="2" charset="2"/>
              </a:rPr>
              <a:t>Learning</a:t>
            </a: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 Element ML Model </a:t>
            </a:r>
            <a:r>
              <a:rPr lang="hr-HR" dirty="0" err="1">
                <a:solidFill>
                  <a:schemeClr val="bg1"/>
                </a:solidFill>
                <a:sym typeface="Wingdings" panose="05000000000000000000" pitchFamily="2" charset="2"/>
              </a:rPr>
              <a:t>Knowledge</a:t>
            </a: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 Base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713662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A6AE4-1422-CE8F-BC9E-10166B55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053500C6-F169-F71F-B3C6-C7D5236971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D5E65C-5A9B-C0B0-2302-5BC95E4206CF}"/>
              </a:ext>
            </a:extLst>
          </p:cNvPr>
          <p:cNvSpPr txBox="1"/>
          <p:nvPr/>
        </p:nvSpPr>
        <p:spPr>
          <a:xfrm>
            <a:off x="3562184" y="882594"/>
            <a:ext cx="3379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PEAS MODEL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37E1CC-15DA-753C-C101-0DF6CF232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558940"/>
              </p:ext>
            </p:extLst>
          </p:nvPr>
        </p:nvGraphicFramePr>
        <p:xfrm>
          <a:off x="1499262" y="2081254"/>
          <a:ext cx="8128000" cy="28346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152250">
                  <a:extLst>
                    <a:ext uri="{9D8B030D-6E8A-4147-A177-3AD203B41FA5}">
                      <a16:colId xmlns:a16="http://schemas.microsoft.com/office/drawing/2014/main" val="1757101179"/>
                    </a:ext>
                  </a:extLst>
                </a:gridCol>
                <a:gridCol w="4975750">
                  <a:extLst>
                    <a:ext uri="{9D8B030D-6E8A-4147-A177-3AD203B41FA5}">
                      <a16:colId xmlns:a16="http://schemas.microsoft.com/office/drawing/2014/main" val="3099222969"/>
                    </a:ext>
                  </a:extLst>
                </a:gridCol>
              </a:tblGrid>
              <a:tr h="634117">
                <a:tc>
                  <a:txBody>
                    <a:bodyPr/>
                    <a:lstStyle/>
                    <a:p>
                      <a:r>
                        <a:rPr lang="hr-HR" b="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Performance</a:t>
                      </a:r>
                      <a:r>
                        <a:rPr lang="hr-HR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Preciznost klasifikacije</a:t>
                      </a:r>
                      <a:br>
                        <a:rPr lang="hr-HR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</a:br>
                      <a:r>
                        <a:rPr lang="hr-HR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Zadovoljstvo korisnika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798534"/>
                  </a:ext>
                </a:extLst>
              </a:tr>
              <a:tr h="610263">
                <a:tc>
                  <a:txBody>
                    <a:bodyPr/>
                    <a:lstStyle/>
                    <a:p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Environment</a:t>
                      </a:r>
                      <a:endParaRPr lang="hr-HR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Baza podataka</a:t>
                      </a:r>
                    </a:p>
                    <a:p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Queue</a:t>
                      </a: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 artikala</a:t>
                      </a:r>
                      <a:b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</a:b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Web 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052594"/>
                  </a:ext>
                </a:extLst>
              </a:tr>
              <a:tr h="610263">
                <a:tc>
                  <a:txBody>
                    <a:bodyPr/>
                    <a:lstStyle/>
                    <a:p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Actuators</a:t>
                      </a:r>
                      <a:endParaRPr lang="hr-HR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Ažuriranje statusa</a:t>
                      </a:r>
                      <a:b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</a:b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Spremanje predikcija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191296"/>
                  </a:ext>
                </a:extLst>
              </a:tr>
              <a:tr h="610263">
                <a:tc>
                  <a:txBody>
                    <a:bodyPr/>
                    <a:lstStyle/>
                    <a:p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Sensors</a:t>
                      </a:r>
                      <a:endParaRPr lang="hr-HR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Čitanje iz baze </a:t>
                      </a:r>
                      <a:b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</a:b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Primanje </a:t>
                      </a:r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user</a:t>
                      </a: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feedbacka</a:t>
                      </a:r>
                      <a:endParaRPr lang="hr-HR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142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5208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659E1-A758-4D20-6939-4826DE82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25BAD5A6-7719-A4C1-FBE6-05B01A7DD8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B0819B-C4AD-53A3-2D16-131DE2FFABA3}"/>
              </a:ext>
            </a:extLst>
          </p:cNvPr>
          <p:cNvSpPr txBox="1"/>
          <p:nvPr/>
        </p:nvSpPr>
        <p:spPr>
          <a:xfrm>
            <a:off x="2186609" y="811033"/>
            <a:ext cx="6896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KARAKTERISIKE OKRUŽENJA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3CBD2B-C6CE-40FB-2AF2-258C1D969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75888"/>
              </p:ext>
            </p:extLst>
          </p:nvPr>
        </p:nvGraphicFramePr>
        <p:xfrm>
          <a:off x="1292529" y="2007777"/>
          <a:ext cx="8127999" cy="323878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67926152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4390521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95935789"/>
                    </a:ext>
                  </a:extLst>
                </a:gridCol>
              </a:tblGrid>
              <a:tr h="489656">
                <a:tc>
                  <a:txBody>
                    <a:bodyPr/>
                    <a:lstStyle/>
                    <a:p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Karakteristika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Vrijednost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Razlog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108848"/>
                  </a:ext>
                </a:extLst>
              </a:tr>
              <a:tr h="489656">
                <a:tc>
                  <a:txBody>
                    <a:bodyPr/>
                    <a:lstStyle/>
                    <a:p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Observable</a:t>
                      </a:r>
                      <a:endParaRPr lang="hr-HR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Fully</a:t>
                      </a:r>
                      <a:endParaRPr lang="hr-HR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Pristup svim podacima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10545"/>
                  </a:ext>
                </a:extLst>
              </a:tr>
              <a:tr h="489656">
                <a:tc>
                  <a:txBody>
                    <a:bodyPr/>
                    <a:lstStyle/>
                    <a:p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Deterministic</a:t>
                      </a:r>
                      <a:endParaRPr lang="hr-HR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Stochastic</a:t>
                      </a:r>
                      <a:endParaRPr lang="hr-HR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ML predikcije </a:t>
                      </a:r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pobabilističke</a:t>
                      </a:r>
                      <a:endParaRPr lang="hr-HR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3626"/>
                  </a:ext>
                </a:extLst>
              </a:tr>
              <a:tr h="489656">
                <a:tc>
                  <a:txBody>
                    <a:bodyPr/>
                    <a:lstStyle/>
                    <a:p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Episodic</a:t>
                      </a:r>
                      <a:endParaRPr lang="hr-HR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Sequential</a:t>
                      </a:r>
                      <a:endParaRPr lang="hr-HR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Odluke utječu na učenje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003938"/>
                  </a:ext>
                </a:extLst>
              </a:tr>
              <a:tr h="489656">
                <a:tc>
                  <a:txBody>
                    <a:bodyPr/>
                    <a:lstStyle/>
                    <a:p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Static</a:t>
                      </a:r>
                      <a:endParaRPr lang="hr-HR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Semi</a:t>
                      </a: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 – </a:t>
                      </a:r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dynamic</a:t>
                      </a:r>
                      <a:endParaRPr lang="hr-HR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Queue</a:t>
                      </a: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 se mijenja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432098"/>
                  </a:ext>
                </a:extLst>
              </a:tr>
              <a:tr h="489656">
                <a:tc>
                  <a:txBody>
                    <a:bodyPr/>
                    <a:lstStyle/>
                    <a:p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Single / Multi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Multi – agent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Korisnici - Agent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9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1729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0C7E9-B963-01D5-759C-73C568BF4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0979A7C6-FA2A-A7DD-33C3-6BBD9A9691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1F9D0D-6ABE-3F68-2DEF-8BBEBF88D32C}"/>
              </a:ext>
            </a:extLst>
          </p:cNvPr>
          <p:cNvSpPr txBox="1"/>
          <p:nvPr/>
        </p:nvSpPr>
        <p:spPr>
          <a:xfrm>
            <a:off x="2610523" y="440898"/>
            <a:ext cx="6758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SOFTVERSKA</a:t>
            </a:r>
            <a:r>
              <a:rPr lang="hr-HR" sz="2800" dirty="0">
                <a:solidFill>
                  <a:schemeClr val="bg1"/>
                </a:solidFill>
              </a:rPr>
              <a:t> </a:t>
            </a:r>
            <a:r>
              <a:rPr lang="hr-HR" sz="3600" dirty="0">
                <a:solidFill>
                  <a:schemeClr val="bg1"/>
                </a:solidFill>
              </a:rPr>
              <a:t>ARHITEKTURA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E38C7-F098-A9E9-CF5C-16EA069D1BFF}"/>
              </a:ext>
            </a:extLst>
          </p:cNvPr>
          <p:cNvSpPr txBox="1"/>
          <p:nvPr/>
        </p:nvSpPr>
        <p:spPr>
          <a:xfrm>
            <a:off x="2270824" y="1877768"/>
            <a:ext cx="6131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PRESENTATION LAYER (</a:t>
            </a:r>
            <a:r>
              <a:rPr lang="hr-HR" dirty="0" err="1">
                <a:solidFill>
                  <a:schemeClr val="bg1"/>
                </a:solidFill>
              </a:rPr>
              <a:t>AiAgents.FashionAgent.Web</a:t>
            </a:r>
            <a:r>
              <a:rPr lang="hr-HR" dirty="0">
                <a:solidFill>
                  <a:schemeClr val="bg1"/>
                </a:solidFill>
              </a:rPr>
              <a:t>)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                       Razor </a:t>
            </a:r>
            <a:r>
              <a:rPr lang="hr-HR" dirty="0" err="1">
                <a:solidFill>
                  <a:schemeClr val="bg1"/>
                </a:solidFill>
              </a:rPr>
              <a:t>Pages</a:t>
            </a:r>
            <a:r>
              <a:rPr lang="hr-HR" dirty="0">
                <a:solidFill>
                  <a:schemeClr val="bg1"/>
                </a:solidFill>
              </a:rPr>
              <a:t> + </a:t>
            </a:r>
            <a:r>
              <a:rPr lang="hr-HR" dirty="0" err="1">
                <a:solidFill>
                  <a:schemeClr val="bg1"/>
                </a:solidFill>
              </a:rPr>
              <a:t>Controllers</a:t>
            </a:r>
            <a:r>
              <a:rPr lang="hr-HR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DE7780F4-30BD-D039-A3D9-A5F8262BEA80}"/>
              </a:ext>
            </a:extLst>
          </p:cNvPr>
          <p:cNvSpPr/>
          <p:nvPr/>
        </p:nvSpPr>
        <p:spPr>
          <a:xfrm>
            <a:off x="4750905" y="2574635"/>
            <a:ext cx="453225" cy="42141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94050C-0423-B79F-8563-9DEEF52C7F5B}"/>
              </a:ext>
            </a:extLst>
          </p:cNvPr>
          <p:cNvSpPr txBox="1"/>
          <p:nvPr/>
        </p:nvSpPr>
        <p:spPr>
          <a:xfrm>
            <a:off x="2610523" y="3100839"/>
            <a:ext cx="4733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APPLICATION LAYER (</a:t>
            </a:r>
            <a:r>
              <a:rPr lang="hr-HR" dirty="0" err="1">
                <a:solidFill>
                  <a:schemeClr val="bg1"/>
                </a:solidFill>
              </a:rPr>
              <a:t>Runners</a:t>
            </a:r>
            <a:r>
              <a:rPr lang="hr-HR" dirty="0">
                <a:solidFill>
                  <a:schemeClr val="bg1"/>
                </a:solidFill>
              </a:rPr>
              <a:t>, </a:t>
            </a:r>
            <a:r>
              <a:rPr lang="hr-HR" dirty="0" err="1">
                <a:solidFill>
                  <a:schemeClr val="bg1"/>
                </a:solidFill>
              </a:rPr>
              <a:t>Services</a:t>
            </a:r>
            <a:r>
              <a:rPr lang="hr-HR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211FD844-FFC2-4C40-3317-616A940FA2A1}"/>
              </a:ext>
            </a:extLst>
          </p:cNvPr>
          <p:cNvSpPr/>
          <p:nvPr/>
        </p:nvSpPr>
        <p:spPr>
          <a:xfrm>
            <a:off x="4750904" y="3572794"/>
            <a:ext cx="453225" cy="42141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685752-908B-3CBC-04A9-56D4EE24C014}"/>
              </a:ext>
            </a:extLst>
          </p:cNvPr>
          <p:cNvSpPr txBox="1"/>
          <p:nvPr/>
        </p:nvSpPr>
        <p:spPr>
          <a:xfrm>
            <a:off x="2679591" y="4135994"/>
            <a:ext cx="4427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DOMAIN LAYER (</a:t>
            </a:r>
            <a:r>
              <a:rPr lang="hr-HR" dirty="0" err="1">
                <a:solidFill>
                  <a:schemeClr val="bg1"/>
                </a:solidFill>
              </a:rPr>
              <a:t>Entities</a:t>
            </a:r>
            <a:r>
              <a:rPr lang="hr-HR" dirty="0">
                <a:solidFill>
                  <a:schemeClr val="bg1"/>
                </a:solidFill>
              </a:rPr>
              <a:t>, </a:t>
            </a:r>
            <a:r>
              <a:rPr lang="hr-HR" dirty="0" err="1">
                <a:solidFill>
                  <a:schemeClr val="bg1"/>
                </a:solidFill>
              </a:rPr>
              <a:t>Enum</a:t>
            </a:r>
            <a:r>
              <a:rPr lang="hr-HR" dirty="0">
                <a:solidFill>
                  <a:schemeClr val="bg1"/>
                </a:solidFill>
              </a:rPr>
              <a:t>, </a:t>
            </a:r>
            <a:r>
              <a:rPr lang="hr-HR" dirty="0" err="1">
                <a:solidFill>
                  <a:schemeClr val="bg1"/>
                </a:solidFill>
              </a:rPr>
              <a:t>Rules</a:t>
            </a:r>
            <a:r>
              <a:rPr lang="hr-HR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46E10E61-3144-6E15-AA46-0E31DCD5E59B}"/>
              </a:ext>
            </a:extLst>
          </p:cNvPr>
          <p:cNvSpPr/>
          <p:nvPr/>
        </p:nvSpPr>
        <p:spPr>
          <a:xfrm>
            <a:off x="4750903" y="4647107"/>
            <a:ext cx="453225" cy="42141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E49D18-C6E8-BB88-2CB6-9066E5BA3544}"/>
              </a:ext>
            </a:extLst>
          </p:cNvPr>
          <p:cNvSpPr txBox="1"/>
          <p:nvPr/>
        </p:nvSpPr>
        <p:spPr>
          <a:xfrm>
            <a:off x="1471726" y="5297471"/>
            <a:ext cx="7730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INFRASTRUCTURE +  CORE(</a:t>
            </a:r>
            <a:r>
              <a:rPr lang="hr-HR" dirty="0" err="1">
                <a:solidFill>
                  <a:schemeClr val="bg1"/>
                </a:solidFill>
              </a:rPr>
              <a:t>DbContext</a:t>
            </a:r>
            <a:r>
              <a:rPr lang="hr-HR" dirty="0">
                <a:solidFill>
                  <a:schemeClr val="bg1"/>
                </a:solidFill>
              </a:rPr>
              <a:t>, </a:t>
            </a:r>
            <a:r>
              <a:rPr lang="hr-HR" dirty="0" err="1">
                <a:solidFill>
                  <a:schemeClr val="bg1"/>
                </a:solidFill>
              </a:rPr>
              <a:t>ML.Net</a:t>
            </a:r>
            <a:r>
              <a:rPr lang="hr-HR" dirty="0">
                <a:solidFill>
                  <a:schemeClr val="bg1"/>
                </a:solidFill>
              </a:rPr>
              <a:t>, Agent </a:t>
            </a:r>
            <a:r>
              <a:rPr lang="hr-HR" dirty="0" err="1">
                <a:solidFill>
                  <a:schemeClr val="bg1"/>
                </a:solidFill>
              </a:rPr>
              <a:t>Abstractions</a:t>
            </a:r>
            <a:r>
              <a:rPr lang="hr-HR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59403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4166C-9066-1DAE-26CC-F3557D69B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E7BBFF55-1DAD-41A5-F126-F58BD3306F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5FE2F5-6393-D8B4-C636-2E5CCE5AC43E}"/>
              </a:ext>
            </a:extLst>
          </p:cNvPr>
          <p:cNvSpPr txBox="1"/>
          <p:nvPr/>
        </p:nvSpPr>
        <p:spPr>
          <a:xfrm>
            <a:off x="2011680" y="699715"/>
            <a:ext cx="6385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CORE AGENT INFERFACES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7EAA1-4A3F-33F0-FB0E-7841C1F40F43}"/>
              </a:ext>
            </a:extLst>
          </p:cNvPr>
          <p:cNvSpPr txBox="1"/>
          <p:nvPr/>
        </p:nvSpPr>
        <p:spPr>
          <a:xfrm>
            <a:off x="1691148" y="1740309"/>
            <a:ext cx="7547259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 err="1">
                <a:solidFill>
                  <a:schemeClr val="bg1"/>
                </a:solidFill>
              </a:rPr>
              <a:t>public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inteface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IPerceptionSource</a:t>
            </a:r>
            <a:r>
              <a:rPr lang="hr-HR" dirty="0">
                <a:solidFill>
                  <a:schemeClr val="bg1"/>
                </a:solidFill>
              </a:rPr>
              <a:t>&lt;</a:t>
            </a:r>
            <a:r>
              <a:rPr lang="hr-HR" dirty="0" err="1">
                <a:solidFill>
                  <a:schemeClr val="bg1"/>
                </a:solidFill>
              </a:rPr>
              <a:t>TPerception</a:t>
            </a:r>
            <a:r>
              <a:rPr lang="hr-HR" dirty="0">
                <a:solidFill>
                  <a:schemeClr val="bg1"/>
                </a:solidFill>
              </a:rPr>
              <a:t>&gt;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{ 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	 </a:t>
            </a:r>
            <a:r>
              <a:rPr lang="hr-HR" dirty="0" err="1">
                <a:solidFill>
                  <a:schemeClr val="bg1"/>
                </a:solidFill>
              </a:rPr>
              <a:t>Task</a:t>
            </a:r>
            <a:r>
              <a:rPr lang="hr-HR" dirty="0">
                <a:solidFill>
                  <a:schemeClr val="bg1"/>
                </a:solidFill>
              </a:rPr>
              <a:t>&lt;</a:t>
            </a:r>
            <a:r>
              <a:rPr lang="hr-HR" dirty="0" err="1">
                <a:solidFill>
                  <a:schemeClr val="bg1"/>
                </a:solidFill>
              </a:rPr>
              <a:t>TPercept</a:t>
            </a:r>
            <a:r>
              <a:rPr lang="hr-HR" dirty="0">
                <a:solidFill>
                  <a:schemeClr val="bg1"/>
                </a:solidFill>
              </a:rPr>
              <a:t>?&gt;  </a:t>
            </a:r>
            <a:r>
              <a:rPr lang="hr-HR" dirty="0" err="1">
                <a:solidFill>
                  <a:schemeClr val="bg1"/>
                </a:solidFill>
              </a:rPr>
              <a:t>PerceiveAsync</a:t>
            </a:r>
            <a:r>
              <a:rPr lang="hr-HR" dirty="0">
                <a:solidFill>
                  <a:schemeClr val="bg1"/>
                </a:solidFill>
              </a:rPr>
              <a:t>(</a:t>
            </a:r>
            <a:r>
              <a:rPr lang="hr-HR" dirty="0" err="1">
                <a:solidFill>
                  <a:schemeClr val="bg1"/>
                </a:solidFill>
              </a:rPr>
              <a:t>CancellationToken</a:t>
            </a:r>
            <a:r>
              <a:rPr lang="hr-HR" dirty="0">
                <a:solidFill>
                  <a:schemeClr val="bg1"/>
                </a:solidFill>
              </a:rPr>
              <a:t>);</a:t>
            </a:r>
          </a:p>
          <a:p>
            <a:r>
              <a:rPr lang="hr-HR" dirty="0">
                <a:solidFill>
                  <a:schemeClr val="bg1"/>
                </a:solidFill>
              </a:rPr>
              <a:t>}</a:t>
            </a:r>
            <a:br>
              <a:rPr lang="hr-HR" dirty="0">
                <a:solidFill>
                  <a:schemeClr val="bg1"/>
                </a:solidFill>
              </a:rPr>
            </a:br>
            <a:endParaRPr lang="hr-HR" dirty="0">
              <a:solidFill>
                <a:schemeClr val="bg1"/>
              </a:solidFill>
            </a:endParaRPr>
          </a:p>
          <a:p>
            <a:br>
              <a:rPr lang="hr-HR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public interface </a:t>
            </a:r>
            <a:r>
              <a:rPr lang="en-US" dirty="0" err="1">
                <a:solidFill>
                  <a:schemeClr val="bg1"/>
                </a:solidFill>
              </a:rPr>
              <a:t>IPolicy</a:t>
            </a:r>
            <a:r>
              <a:rPr lang="en-US" dirty="0">
                <a:solidFill>
                  <a:schemeClr val="bg1"/>
                </a:solidFill>
              </a:rPr>
              <a:t>&lt;</a:t>
            </a:r>
            <a:r>
              <a:rPr lang="en-US" dirty="0" err="1">
                <a:solidFill>
                  <a:schemeClr val="bg1"/>
                </a:solidFill>
              </a:rPr>
              <a:t>TPercept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TAction</a:t>
            </a:r>
            <a:r>
              <a:rPr lang="en-US" dirty="0">
                <a:solidFill>
                  <a:schemeClr val="bg1"/>
                </a:solidFill>
              </a:rPr>
              <a:t>&gt;  </a:t>
            </a:r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{</a:t>
            </a:r>
          </a:p>
          <a:p>
            <a:r>
              <a:rPr lang="hr-HR" dirty="0">
                <a:solidFill>
                  <a:schemeClr val="bg1"/>
                </a:solidFill>
              </a:rPr>
              <a:t>	</a:t>
            </a:r>
            <a:r>
              <a:rPr lang="hr-HR" dirty="0" err="1">
                <a:solidFill>
                  <a:schemeClr val="bg1"/>
                </a:solidFill>
              </a:rPr>
              <a:t>Task</a:t>
            </a:r>
            <a:r>
              <a:rPr lang="hr-HR" dirty="0">
                <a:solidFill>
                  <a:schemeClr val="bg1"/>
                </a:solidFill>
              </a:rPr>
              <a:t>&lt;</a:t>
            </a:r>
            <a:r>
              <a:rPr lang="hr-HR" dirty="0" err="1">
                <a:solidFill>
                  <a:schemeClr val="bg1"/>
                </a:solidFill>
              </a:rPr>
              <a:t>TAction</a:t>
            </a:r>
            <a:r>
              <a:rPr lang="hr-HR" dirty="0">
                <a:solidFill>
                  <a:schemeClr val="bg1"/>
                </a:solidFill>
              </a:rPr>
              <a:t>&gt; </a:t>
            </a:r>
            <a:r>
              <a:rPr lang="hr-HR" dirty="0" err="1">
                <a:solidFill>
                  <a:schemeClr val="bg1"/>
                </a:solidFill>
              </a:rPr>
              <a:t>DecideAsync</a:t>
            </a:r>
            <a:r>
              <a:rPr lang="hr-HR" dirty="0">
                <a:solidFill>
                  <a:schemeClr val="bg1"/>
                </a:solidFill>
              </a:rPr>
              <a:t>(</a:t>
            </a:r>
            <a:r>
              <a:rPr lang="hr-HR" dirty="0" err="1">
                <a:solidFill>
                  <a:schemeClr val="bg1"/>
                </a:solidFill>
              </a:rPr>
              <a:t>TPercept</a:t>
            </a:r>
            <a:r>
              <a:rPr lang="hr-HR" dirty="0">
                <a:solidFill>
                  <a:schemeClr val="bg1"/>
                </a:solidFill>
              </a:rPr>
              <a:t>, </a:t>
            </a:r>
            <a:r>
              <a:rPr lang="hr-HR" dirty="0" err="1">
                <a:solidFill>
                  <a:schemeClr val="bg1"/>
                </a:solidFill>
              </a:rPr>
              <a:t>CancellationToken</a:t>
            </a:r>
            <a:r>
              <a:rPr lang="hr-HR" dirty="0">
                <a:solidFill>
                  <a:schemeClr val="bg1"/>
                </a:solidFill>
              </a:rPr>
              <a:t>);</a:t>
            </a:r>
          </a:p>
          <a:p>
            <a:r>
              <a:rPr lang="hr-HR" dirty="0">
                <a:solidFill>
                  <a:schemeClr val="bg1"/>
                </a:solidFill>
              </a:rPr>
              <a:t>}</a:t>
            </a:r>
            <a:endParaRPr lang="en-US" dirty="0">
              <a:solidFill>
                <a:schemeClr val="bg1"/>
              </a:solidFill>
            </a:endParaRPr>
          </a:p>
          <a:p>
            <a:endParaRPr lang="hr-HR" dirty="0">
              <a:solidFill>
                <a:schemeClr val="bg1"/>
              </a:solidFill>
            </a:endParaRP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 err="1">
                <a:solidFill>
                  <a:schemeClr val="bg1"/>
                </a:solidFill>
              </a:rPr>
              <a:t>public</a:t>
            </a:r>
            <a:r>
              <a:rPr lang="hr-HR" dirty="0">
                <a:solidFill>
                  <a:schemeClr val="bg1"/>
                </a:solidFill>
              </a:rPr>
              <a:t> interface </a:t>
            </a:r>
            <a:r>
              <a:rPr lang="hr-HR" dirty="0" err="1">
                <a:solidFill>
                  <a:schemeClr val="bg1"/>
                </a:solidFill>
              </a:rPr>
              <a:t>ILearningComponent</a:t>
            </a:r>
            <a:r>
              <a:rPr lang="hr-HR" dirty="0">
                <a:solidFill>
                  <a:schemeClr val="bg1"/>
                </a:solidFill>
              </a:rPr>
              <a:t>&lt;</a:t>
            </a:r>
            <a:r>
              <a:rPr lang="hr-HR" dirty="0" err="1">
                <a:solidFill>
                  <a:schemeClr val="bg1"/>
                </a:solidFill>
              </a:rPr>
              <a:t>TExperience</a:t>
            </a:r>
            <a:r>
              <a:rPr lang="hr-HR" dirty="0">
                <a:solidFill>
                  <a:schemeClr val="bg1"/>
                </a:solidFill>
              </a:rPr>
              <a:t>&gt;</a:t>
            </a:r>
          </a:p>
          <a:p>
            <a:r>
              <a:rPr lang="hr-HR" dirty="0">
                <a:solidFill>
                  <a:schemeClr val="bg1"/>
                </a:solidFill>
              </a:rPr>
              <a:t>{</a:t>
            </a:r>
          </a:p>
          <a:p>
            <a:r>
              <a:rPr lang="hr-HR" dirty="0">
                <a:solidFill>
                  <a:schemeClr val="bg1"/>
                </a:solidFill>
              </a:rPr>
              <a:t>	</a:t>
            </a:r>
            <a:r>
              <a:rPr lang="hr-HR" dirty="0" err="1">
                <a:solidFill>
                  <a:schemeClr val="bg1"/>
                </a:solidFill>
              </a:rPr>
              <a:t>Task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LearnAsync</a:t>
            </a:r>
            <a:r>
              <a:rPr lang="hr-HR" dirty="0">
                <a:solidFill>
                  <a:schemeClr val="bg1"/>
                </a:solidFill>
              </a:rPr>
              <a:t>(</a:t>
            </a:r>
            <a:r>
              <a:rPr lang="hr-HR" dirty="0" err="1">
                <a:solidFill>
                  <a:schemeClr val="bg1"/>
                </a:solidFill>
              </a:rPr>
              <a:t>TExperience</a:t>
            </a:r>
            <a:r>
              <a:rPr lang="hr-HR" dirty="0">
                <a:solidFill>
                  <a:schemeClr val="bg1"/>
                </a:solidFill>
              </a:rPr>
              <a:t>, </a:t>
            </a:r>
            <a:r>
              <a:rPr lang="hr-HR" dirty="0" err="1">
                <a:solidFill>
                  <a:schemeClr val="bg1"/>
                </a:solidFill>
              </a:rPr>
              <a:t>CancellationToken</a:t>
            </a:r>
            <a:r>
              <a:rPr lang="hr-HR" dirty="0">
                <a:solidFill>
                  <a:schemeClr val="bg1"/>
                </a:solidFill>
              </a:rPr>
              <a:t>);</a:t>
            </a:r>
          </a:p>
          <a:p>
            <a:r>
              <a:rPr lang="hr-HR" dirty="0">
                <a:solidFill>
                  <a:schemeClr val="bg1"/>
                </a:solidFill>
              </a:rPr>
              <a:t>}</a:t>
            </a:r>
          </a:p>
          <a:p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CA10D7-7C9A-DEB0-58AF-9709753DD26C}"/>
              </a:ext>
            </a:extLst>
          </p:cNvPr>
          <p:cNvSpPr/>
          <p:nvPr/>
        </p:nvSpPr>
        <p:spPr>
          <a:xfrm>
            <a:off x="1561191" y="1631949"/>
            <a:ext cx="7807172" cy="1478273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53565C-1B2D-5EF7-EB3B-8CDCA8125444}"/>
              </a:ext>
            </a:extLst>
          </p:cNvPr>
          <p:cNvSpPr/>
          <p:nvPr/>
        </p:nvSpPr>
        <p:spPr>
          <a:xfrm>
            <a:off x="1561191" y="3317593"/>
            <a:ext cx="7807172" cy="1478274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DCEA0C-80FF-562A-ABB8-A2885CB91CDF}"/>
              </a:ext>
            </a:extLst>
          </p:cNvPr>
          <p:cNvSpPr/>
          <p:nvPr/>
        </p:nvSpPr>
        <p:spPr>
          <a:xfrm>
            <a:off x="1606078" y="4952341"/>
            <a:ext cx="7762285" cy="1478275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36856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00A4B-CE9C-BC3E-A258-225E674FC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6BB1500E-B30D-C60E-0404-57811A9349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3F630B-A8A9-9B45-4FC6-42F1041C3A8F}"/>
              </a:ext>
            </a:extLst>
          </p:cNvPr>
          <p:cNvSpPr txBox="1"/>
          <p:nvPr/>
        </p:nvSpPr>
        <p:spPr>
          <a:xfrm>
            <a:off x="1272393" y="574033"/>
            <a:ext cx="9647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SENSE </a:t>
            </a:r>
            <a:r>
              <a:rPr lang="hr-HR" sz="3600" dirty="0">
                <a:solidFill>
                  <a:schemeClr val="bg1"/>
                </a:solidFill>
                <a:sym typeface="Wingdings" panose="05000000000000000000" pitchFamily="2" charset="2"/>
              </a:rPr>
              <a:t> THINK  ACT  LEARN CIKLUS</a:t>
            </a:r>
            <a:endParaRPr lang="hr-HR" sz="3600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E85077-CF70-CA88-B607-691AF1C5C5F7}"/>
              </a:ext>
            </a:extLst>
          </p:cNvPr>
          <p:cNvSpPr/>
          <p:nvPr/>
        </p:nvSpPr>
        <p:spPr>
          <a:xfrm>
            <a:off x="816078" y="1578077"/>
            <a:ext cx="1740310" cy="119953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SENSE</a:t>
            </a:r>
            <a:br>
              <a:rPr lang="hr-HR" dirty="0"/>
            </a:br>
            <a:r>
              <a:rPr lang="hr-HR" dirty="0" err="1"/>
              <a:t>Dequeue</a:t>
            </a:r>
            <a:r>
              <a:rPr lang="hr-HR" dirty="0"/>
              <a:t> </a:t>
            </a:r>
            <a:r>
              <a:rPr lang="hr-HR" dirty="0" err="1"/>
              <a:t>Item</a:t>
            </a:r>
            <a:r>
              <a:rPr lang="hr-HR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7B953B-9725-EDBE-F80D-22D9986EDA80}"/>
              </a:ext>
            </a:extLst>
          </p:cNvPr>
          <p:cNvSpPr/>
          <p:nvPr/>
        </p:nvSpPr>
        <p:spPr>
          <a:xfrm>
            <a:off x="688258" y="4965290"/>
            <a:ext cx="1868130" cy="80624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THINK</a:t>
            </a:r>
            <a:br>
              <a:rPr lang="hr-HR" dirty="0"/>
            </a:br>
            <a:r>
              <a:rPr lang="hr-HR" dirty="0"/>
              <a:t>ML.NET </a:t>
            </a:r>
            <a:r>
              <a:rPr lang="hr-HR" dirty="0" err="1"/>
              <a:t>Predict</a:t>
            </a:r>
            <a:endParaRPr lang="hr-H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0550EA-E311-A5B1-089A-45FD4C5814FA}"/>
              </a:ext>
            </a:extLst>
          </p:cNvPr>
          <p:cNvSpPr/>
          <p:nvPr/>
        </p:nvSpPr>
        <p:spPr>
          <a:xfrm>
            <a:off x="4667865" y="4820264"/>
            <a:ext cx="2050025" cy="91931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ACT </a:t>
            </a:r>
            <a:br>
              <a:rPr lang="hr-HR" dirty="0"/>
            </a:br>
            <a:r>
              <a:rPr lang="hr-HR" dirty="0"/>
              <a:t>Save </a:t>
            </a:r>
            <a:r>
              <a:rPr lang="hr-HR" dirty="0" err="1"/>
              <a:t>Decision</a:t>
            </a:r>
            <a:endParaRPr lang="hr-H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B7786A-769B-D480-1A11-61C700B91528}"/>
              </a:ext>
            </a:extLst>
          </p:cNvPr>
          <p:cNvSpPr/>
          <p:nvPr/>
        </p:nvSpPr>
        <p:spPr>
          <a:xfrm>
            <a:off x="9006348" y="4680154"/>
            <a:ext cx="2182761" cy="119953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USER </a:t>
            </a:r>
            <a:br>
              <a:rPr lang="hr-HR" dirty="0"/>
            </a:br>
            <a:r>
              <a:rPr lang="hr-HR" dirty="0"/>
              <a:t>👍 / 👎 </a:t>
            </a:r>
            <a:r>
              <a:rPr lang="hr-HR" dirty="0" err="1"/>
              <a:t>Feedbaack</a:t>
            </a:r>
            <a:r>
              <a:rPr lang="hr-HR" dirty="0"/>
              <a:t> </a:t>
            </a:r>
          </a:p>
          <a:p>
            <a:pPr algn="ctr"/>
            <a:endParaRPr lang="hr-H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9F6AAF-4D59-D25E-6756-82B490C5C132}"/>
              </a:ext>
            </a:extLst>
          </p:cNvPr>
          <p:cNvSpPr/>
          <p:nvPr/>
        </p:nvSpPr>
        <p:spPr>
          <a:xfrm>
            <a:off x="9006348" y="1578078"/>
            <a:ext cx="2266335" cy="119953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LEARN </a:t>
            </a:r>
            <a:br>
              <a:rPr lang="hr-HR" dirty="0"/>
            </a:br>
            <a:r>
              <a:rPr lang="hr-HR" dirty="0" err="1"/>
              <a:t>Analyze</a:t>
            </a:r>
            <a:r>
              <a:rPr lang="hr-HR" dirty="0"/>
              <a:t> </a:t>
            </a:r>
            <a:r>
              <a:rPr lang="hr-HR" dirty="0" err="1"/>
              <a:t>Feedback</a:t>
            </a:r>
            <a:endParaRPr lang="hr-HR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85FE5E79-B9CF-1EED-3088-D683DB5F4A46}"/>
              </a:ext>
            </a:extLst>
          </p:cNvPr>
          <p:cNvSpPr/>
          <p:nvPr/>
        </p:nvSpPr>
        <p:spPr>
          <a:xfrm>
            <a:off x="1150373" y="3379838"/>
            <a:ext cx="786581" cy="9832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8FE9CD-2AFD-9891-7F14-BE1FA948CCAF}"/>
              </a:ext>
            </a:extLst>
          </p:cNvPr>
          <p:cNvSpPr txBox="1"/>
          <p:nvPr/>
        </p:nvSpPr>
        <p:spPr>
          <a:xfrm>
            <a:off x="2009818" y="3608127"/>
            <a:ext cx="15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 err="1">
                <a:solidFill>
                  <a:schemeClr val="bg1"/>
                </a:solidFill>
              </a:rPr>
              <a:t>ClothingItem</a:t>
            </a:r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2FCBECFB-5A22-6C63-7062-7DCF26A43E58}"/>
              </a:ext>
            </a:extLst>
          </p:cNvPr>
          <p:cNvSpPr/>
          <p:nvPr/>
        </p:nvSpPr>
        <p:spPr>
          <a:xfrm rot="16200000">
            <a:off x="3244646" y="4788309"/>
            <a:ext cx="786581" cy="9832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DB364692-70A1-0A86-34B9-CB0C757CD32F}"/>
              </a:ext>
            </a:extLst>
          </p:cNvPr>
          <p:cNvSpPr/>
          <p:nvPr/>
        </p:nvSpPr>
        <p:spPr>
          <a:xfrm rot="16200000">
            <a:off x="7354528" y="4719482"/>
            <a:ext cx="786581" cy="9832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0C140724-3B3F-790A-0D33-83922D418E36}"/>
              </a:ext>
            </a:extLst>
          </p:cNvPr>
          <p:cNvSpPr/>
          <p:nvPr/>
        </p:nvSpPr>
        <p:spPr>
          <a:xfrm rot="10800000">
            <a:off x="9704437" y="3429000"/>
            <a:ext cx="786581" cy="9832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FDCCEE-5281-8B00-A2C4-CCBDF6898560}"/>
              </a:ext>
            </a:extLst>
          </p:cNvPr>
          <p:cNvSpPr txBox="1"/>
          <p:nvPr/>
        </p:nvSpPr>
        <p:spPr>
          <a:xfrm>
            <a:off x="8101780" y="3910347"/>
            <a:ext cx="1848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 err="1">
                <a:solidFill>
                  <a:schemeClr val="bg1"/>
                </a:solidFill>
              </a:rPr>
              <a:t>UserFeedback</a:t>
            </a:r>
            <a:endParaRPr lang="hr-H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057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AFFA0-D686-6394-36D5-83EE7EFFD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DE07E03B-AAD6-DB34-AC2D-BA45419969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A5B8C0-14E5-CE7B-C4BA-6AFE44CE7454}"/>
              </a:ext>
            </a:extLst>
          </p:cNvPr>
          <p:cNvSpPr txBox="1"/>
          <p:nvPr/>
        </p:nvSpPr>
        <p:spPr>
          <a:xfrm>
            <a:off x="4065104" y="433990"/>
            <a:ext cx="3249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SENSE FAZA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07F1FD-8EB3-F660-8809-7F5ABFF5C11D}"/>
              </a:ext>
            </a:extLst>
          </p:cNvPr>
          <p:cNvSpPr txBox="1"/>
          <p:nvPr/>
        </p:nvSpPr>
        <p:spPr>
          <a:xfrm>
            <a:off x="2708618" y="1625987"/>
            <a:ext cx="6276077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 Funkcija: Prikupljanje podataka iz okruženja</a:t>
            </a:r>
            <a:br>
              <a:rPr lang="pl-PL" dirty="0">
                <a:solidFill>
                  <a:schemeClr val="bg1"/>
                </a:solidFill>
              </a:rPr>
            </a:br>
            <a:br>
              <a:rPr lang="pl-PL" dirty="0">
                <a:solidFill>
                  <a:schemeClr val="bg1"/>
                </a:solidFill>
              </a:rPr>
            </a:br>
            <a:br>
              <a:rPr lang="pl-PL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// </a:t>
            </a:r>
            <a:r>
              <a:rPr lang="hr-HR" dirty="0" err="1">
                <a:solidFill>
                  <a:schemeClr val="bg1"/>
                </a:solidFill>
              </a:rPr>
              <a:t>QueueService.cs</a:t>
            </a:r>
            <a:r>
              <a:rPr lang="hr-HR" dirty="0">
                <a:solidFill>
                  <a:schemeClr val="bg1"/>
                </a:solidFill>
              </a:rPr>
              <a:t>  </a:t>
            </a:r>
          </a:p>
          <a:p>
            <a:r>
              <a:rPr lang="en-US" dirty="0">
                <a:solidFill>
                  <a:schemeClr val="bg1"/>
                </a:solidFill>
              </a:rPr>
              <a:t> public async Task&lt;</a:t>
            </a:r>
            <a:r>
              <a:rPr lang="en-US" dirty="0" err="1">
                <a:solidFill>
                  <a:schemeClr val="bg1"/>
                </a:solidFill>
              </a:rPr>
              <a:t>ClothingItem</a:t>
            </a:r>
            <a:r>
              <a:rPr lang="en-US" dirty="0">
                <a:solidFill>
                  <a:schemeClr val="bg1"/>
                </a:solidFill>
              </a:rPr>
              <a:t>?&gt; </a:t>
            </a:r>
            <a:r>
              <a:rPr lang="en-US" dirty="0" err="1">
                <a:solidFill>
                  <a:schemeClr val="bg1"/>
                </a:solidFill>
              </a:rPr>
              <a:t>DequeueNextAsync</a:t>
            </a:r>
            <a:r>
              <a:rPr lang="en-US" dirty="0">
                <a:solidFill>
                  <a:schemeClr val="bg1"/>
                </a:solidFill>
              </a:rPr>
              <a:t>()</a:t>
            </a:r>
          </a:p>
          <a:p>
            <a:r>
              <a:rPr lang="hr-HR" dirty="0">
                <a:solidFill>
                  <a:schemeClr val="bg1"/>
                </a:solidFill>
              </a:rPr>
              <a:t>{</a:t>
            </a:r>
          </a:p>
          <a:p>
            <a:r>
              <a:rPr lang="hr-HR" dirty="0">
                <a:solidFill>
                  <a:schemeClr val="bg1"/>
                </a:solidFill>
              </a:rPr>
              <a:t>	</a:t>
            </a:r>
            <a:r>
              <a:rPr lang="en-US" dirty="0">
                <a:solidFill>
                  <a:schemeClr val="bg1"/>
                </a:solidFill>
              </a:rPr>
              <a:t>var item = await _</a:t>
            </a:r>
            <a:r>
              <a:rPr lang="en-US" dirty="0" err="1">
                <a:solidFill>
                  <a:schemeClr val="bg1"/>
                </a:solidFill>
              </a:rPr>
              <a:t>context.ClothingItems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	</a:t>
            </a:r>
            <a:r>
              <a:rPr lang="en-US" dirty="0">
                <a:solidFill>
                  <a:schemeClr val="bg1"/>
                </a:solidFill>
              </a:rPr>
              <a:t>.Where(x =&gt; </a:t>
            </a:r>
            <a:r>
              <a:rPr lang="en-US" dirty="0" err="1">
                <a:solidFill>
                  <a:schemeClr val="bg1"/>
                </a:solidFill>
              </a:rPr>
              <a:t>x.Status</a:t>
            </a:r>
            <a:r>
              <a:rPr lang="en-US" dirty="0">
                <a:solidFill>
                  <a:schemeClr val="bg1"/>
                </a:solidFill>
              </a:rPr>
              <a:t> == </a:t>
            </a:r>
            <a:r>
              <a:rPr lang="en-US" dirty="0" err="1">
                <a:solidFill>
                  <a:schemeClr val="bg1"/>
                </a:solidFill>
              </a:rPr>
              <a:t>ItemStatus.Queued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hr-HR" dirty="0">
                <a:solidFill>
                  <a:schemeClr val="bg1"/>
                </a:solidFill>
              </a:rPr>
              <a:t>	.</a:t>
            </a:r>
            <a:r>
              <a:rPr lang="hr-HR" dirty="0" err="1">
                <a:solidFill>
                  <a:schemeClr val="bg1"/>
                </a:solidFill>
              </a:rPr>
              <a:t>OrderBy</a:t>
            </a:r>
            <a:r>
              <a:rPr lang="hr-HR" dirty="0">
                <a:solidFill>
                  <a:schemeClr val="bg1"/>
                </a:solidFill>
              </a:rPr>
              <a:t>(x =&gt; </a:t>
            </a:r>
            <a:r>
              <a:rPr lang="hr-HR" dirty="0" err="1">
                <a:solidFill>
                  <a:schemeClr val="bg1"/>
                </a:solidFill>
              </a:rPr>
              <a:t>x.CreatedAt</a:t>
            </a:r>
            <a:r>
              <a:rPr lang="hr-HR" dirty="0">
                <a:solidFill>
                  <a:schemeClr val="bg1"/>
                </a:solidFill>
              </a:rPr>
              <a:t>)</a:t>
            </a:r>
          </a:p>
          <a:p>
            <a:r>
              <a:rPr lang="hr-HR" dirty="0">
                <a:solidFill>
                  <a:schemeClr val="bg1"/>
                </a:solidFill>
              </a:rPr>
              <a:t>	.</a:t>
            </a:r>
            <a:r>
              <a:rPr lang="hr-HR" dirty="0" err="1">
                <a:solidFill>
                  <a:schemeClr val="bg1"/>
                </a:solidFill>
              </a:rPr>
              <a:t>FirstOrDefaultAsync</a:t>
            </a:r>
            <a:r>
              <a:rPr lang="hr-HR" dirty="0">
                <a:solidFill>
                  <a:schemeClr val="bg1"/>
                </a:solidFill>
              </a:rPr>
              <a:t>();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	</a:t>
            </a:r>
            <a:r>
              <a:rPr lang="hr-HR" dirty="0" err="1">
                <a:solidFill>
                  <a:schemeClr val="bg1"/>
                </a:solidFill>
              </a:rPr>
              <a:t>item.Status</a:t>
            </a:r>
            <a:r>
              <a:rPr lang="hr-HR" dirty="0">
                <a:solidFill>
                  <a:schemeClr val="bg1"/>
                </a:solidFill>
              </a:rPr>
              <a:t> = </a:t>
            </a:r>
            <a:r>
              <a:rPr lang="hr-HR" dirty="0" err="1">
                <a:solidFill>
                  <a:schemeClr val="bg1"/>
                </a:solidFill>
              </a:rPr>
              <a:t>ItemStatus.Processing</a:t>
            </a:r>
            <a:r>
              <a:rPr lang="hr-HR" dirty="0">
                <a:solidFill>
                  <a:schemeClr val="bg1"/>
                </a:solidFill>
              </a:rPr>
              <a:t>;</a:t>
            </a:r>
          </a:p>
          <a:p>
            <a:r>
              <a:rPr lang="hr-HR" dirty="0">
                <a:solidFill>
                  <a:schemeClr val="bg1"/>
                </a:solidFill>
              </a:rPr>
              <a:t>	</a:t>
            </a:r>
            <a:r>
              <a:rPr lang="hr-HR" dirty="0" err="1">
                <a:solidFill>
                  <a:schemeClr val="bg1"/>
                </a:solidFill>
              </a:rPr>
              <a:t>return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item</a:t>
            </a:r>
            <a:r>
              <a:rPr lang="hr-HR" dirty="0">
                <a:solidFill>
                  <a:schemeClr val="bg1"/>
                </a:solidFill>
              </a:rPr>
              <a:t>;</a:t>
            </a:r>
          </a:p>
          <a:p>
            <a:r>
              <a:rPr lang="hr-HR" dirty="0">
                <a:solidFill>
                  <a:schemeClr val="bg1"/>
                </a:solidFill>
              </a:rPr>
              <a:t>}</a:t>
            </a:r>
          </a:p>
          <a:p>
            <a:r>
              <a:rPr lang="pl-PL" dirty="0">
                <a:solidFill>
                  <a:schemeClr val="bg1"/>
                </a:solidFill>
              </a:rPr>
              <a:t> </a:t>
            </a:r>
          </a:p>
          <a:p>
            <a:br>
              <a:rPr lang="pl-PL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Output: </a:t>
            </a:r>
            <a:r>
              <a:rPr lang="en-US" dirty="0" err="1">
                <a:solidFill>
                  <a:schemeClr val="bg1"/>
                </a:solidFill>
              </a:rPr>
              <a:t>ClothingItem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atributima</a:t>
            </a:r>
            <a:r>
              <a:rPr lang="en-US" dirty="0">
                <a:solidFill>
                  <a:schemeClr val="bg1"/>
                </a:solidFill>
              </a:rPr>
              <a:t> (brand, color, price...)</a:t>
            </a:r>
          </a:p>
          <a:p>
            <a:endParaRPr lang="pl-PL" dirty="0">
              <a:solidFill>
                <a:schemeClr val="bg1"/>
              </a:solidFill>
            </a:endParaRPr>
          </a:p>
          <a:p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D195C4-7660-3D13-5925-9F7DBAC7FA0D}"/>
              </a:ext>
            </a:extLst>
          </p:cNvPr>
          <p:cNvSpPr/>
          <p:nvPr/>
        </p:nvSpPr>
        <p:spPr>
          <a:xfrm>
            <a:off x="2179117" y="2156792"/>
            <a:ext cx="7335078" cy="3747052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38862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ADAA-7730-62E5-37A4-667EE6AA5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D6F20E1C-F2E9-C145-4089-6EB1C3CB2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1FCFD9-2C8A-A89C-87EE-96226FFB777F}"/>
              </a:ext>
            </a:extLst>
          </p:cNvPr>
          <p:cNvSpPr txBox="1"/>
          <p:nvPr/>
        </p:nvSpPr>
        <p:spPr>
          <a:xfrm>
            <a:off x="4055166" y="556591"/>
            <a:ext cx="3094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THINK  FAZA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7B2200-9EC2-64A3-F1E1-57E49BCE0E6F}"/>
              </a:ext>
            </a:extLst>
          </p:cNvPr>
          <p:cNvSpPr txBox="1"/>
          <p:nvPr/>
        </p:nvSpPr>
        <p:spPr>
          <a:xfrm>
            <a:off x="2440140" y="1500809"/>
            <a:ext cx="618791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Funkcija: ML predikcija + donošenje odluke    </a:t>
            </a:r>
          </a:p>
          <a:p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// 1. ML Predikcija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 var </a:t>
            </a:r>
            <a:r>
              <a:rPr lang="hr-HR" dirty="0" err="1">
                <a:solidFill>
                  <a:schemeClr val="bg1"/>
                </a:solidFill>
              </a:rPr>
              <a:t>probability</a:t>
            </a:r>
            <a:r>
              <a:rPr lang="hr-HR" dirty="0">
                <a:solidFill>
                  <a:schemeClr val="bg1"/>
                </a:solidFill>
              </a:rPr>
              <a:t> = </a:t>
            </a:r>
            <a:r>
              <a:rPr lang="hr-HR" dirty="0" err="1">
                <a:solidFill>
                  <a:schemeClr val="bg1"/>
                </a:solidFill>
              </a:rPr>
              <a:t>await</a:t>
            </a:r>
            <a:r>
              <a:rPr lang="hr-HR" dirty="0">
                <a:solidFill>
                  <a:schemeClr val="bg1"/>
                </a:solidFill>
              </a:rPr>
              <a:t> _</a:t>
            </a:r>
            <a:r>
              <a:rPr lang="hr-HR" dirty="0" err="1">
                <a:solidFill>
                  <a:schemeClr val="bg1"/>
                </a:solidFill>
              </a:rPr>
              <a:t>classifier.PredictAsync</a:t>
            </a:r>
            <a:r>
              <a:rPr lang="hr-HR" dirty="0">
                <a:solidFill>
                  <a:schemeClr val="bg1"/>
                </a:solidFill>
              </a:rPr>
              <a:t>(</a:t>
            </a:r>
            <a:r>
              <a:rPr lang="hr-HR" dirty="0" err="1">
                <a:solidFill>
                  <a:schemeClr val="bg1"/>
                </a:solidFill>
              </a:rPr>
              <a:t>item</a:t>
            </a:r>
            <a:r>
              <a:rPr lang="hr-HR" dirty="0">
                <a:solidFill>
                  <a:schemeClr val="bg1"/>
                </a:solidFill>
              </a:rPr>
              <a:t>);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// 2. Primjena pravila odlučivanja </a:t>
            </a:r>
          </a:p>
          <a:p>
            <a:r>
              <a:rPr lang="hr-HR" dirty="0">
                <a:solidFill>
                  <a:schemeClr val="bg1"/>
                </a:solidFill>
              </a:rPr>
              <a:t>var </a:t>
            </a:r>
            <a:r>
              <a:rPr lang="hr-HR" dirty="0" err="1">
                <a:solidFill>
                  <a:schemeClr val="bg1"/>
                </a:solidFill>
              </a:rPr>
              <a:t>decision</a:t>
            </a:r>
            <a:r>
              <a:rPr lang="hr-HR" dirty="0">
                <a:solidFill>
                  <a:schemeClr val="bg1"/>
                </a:solidFill>
              </a:rPr>
              <a:t> = </a:t>
            </a:r>
            <a:r>
              <a:rPr lang="hr-HR" dirty="0" err="1">
                <a:solidFill>
                  <a:schemeClr val="bg1"/>
                </a:solidFill>
              </a:rPr>
              <a:t>probability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switch</a:t>
            </a:r>
            <a:r>
              <a:rPr lang="hr-HR" dirty="0">
                <a:solidFill>
                  <a:schemeClr val="bg1"/>
                </a:solidFill>
              </a:rPr>
              <a:t> </a:t>
            </a:r>
          </a:p>
          <a:p>
            <a:r>
              <a:rPr lang="hr-HR" dirty="0">
                <a:solidFill>
                  <a:schemeClr val="bg1"/>
                </a:solidFill>
              </a:rPr>
              <a:t>{</a:t>
            </a:r>
          </a:p>
          <a:p>
            <a:r>
              <a:rPr lang="hr-HR" dirty="0">
                <a:solidFill>
                  <a:schemeClr val="bg1"/>
                </a:solidFill>
              </a:rPr>
              <a:t>	P &gt;= 0.7 </a:t>
            </a: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TrendDecision.Recommend</a:t>
            </a:r>
            <a:r>
              <a:rPr lang="hr-HR" dirty="0">
                <a:solidFill>
                  <a:schemeClr val="bg1"/>
                </a:solidFill>
              </a:rPr>
              <a:t>,   // 🔥</a:t>
            </a:r>
          </a:p>
          <a:p>
            <a:r>
              <a:rPr lang="hr-HR" dirty="0">
                <a:solidFill>
                  <a:schemeClr val="bg1"/>
                </a:solidFill>
              </a:rPr>
              <a:t>	0.3 &lt; P &lt; 0.7 </a:t>
            </a: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TrendDecision.Archive</a:t>
            </a:r>
            <a:r>
              <a:rPr lang="hr-HR" dirty="0">
                <a:solidFill>
                  <a:schemeClr val="bg1"/>
                </a:solidFill>
              </a:rPr>
              <a:t>,     // 📦</a:t>
            </a:r>
          </a:p>
          <a:p>
            <a:r>
              <a:rPr lang="hr-HR" dirty="0">
                <a:solidFill>
                  <a:schemeClr val="bg1"/>
                </a:solidFill>
              </a:rPr>
              <a:t>   	P &lt;= 0.3 </a:t>
            </a: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TrendDecision.PendingReview</a:t>
            </a:r>
            <a:r>
              <a:rPr lang="hr-HR" dirty="0">
                <a:solidFill>
                  <a:schemeClr val="bg1"/>
                </a:solidFill>
              </a:rPr>
              <a:t> // ⏳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};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Output: </a:t>
            </a:r>
            <a:r>
              <a:rPr lang="hr-HR" dirty="0" err="1">
                <a:solidFill>
                  <a:schemeClr val="bg1"/>
                </a:solidFill>
              </a:rPr>
              <a:t>TrendPrediction</a:t>
            </a:r>
            <a:r>
              <a:rPr lang="hr-HR" dirty="0">
                <a:solidFill>
                  <a:schemeClr val="bg1"/>
                </a:solidFill>
              </a:rPr>
              <a:t> (</a:t>
            </a:r>
            <a:r>
              <a:rPr lang="hr-HR" dirty="0" err="1">
                <a:solidFill>
                  <a:schemeClr val="bg1"/>
                </a:solidFill>
              </a:rPr>
              <a:t>probability</a:t>
            </a:r>
            <a:r>
              <a:rPr lang="hr-HR" dirty="0">
                <a:solidFill>
                  <a:schemeClr val="bg1"/>
                </a:solidFill>
              </a:rPr>
              <a:t> + </a:t>
            </a:r>
            <a:r>
              <a:rPr lang="hr-HR" dirty="0" err="1">
                <a:solidFill>
                  <a:schemeClr val="bg1"/>
                </a:solidFill>
              </a:rPr>
              <a:t>decision</a:t>
            </a:r>
            <a:r>
              <a:rPr lang="hr-HR" dirty="0">
                <a:solidFill>
                  <a:schemeClr val="bg1"/>
                </a:solidFill>
              </a:rPr>
              <a:t>)</a:t>
            </a:r>
          </a:p>
          <a:p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AB7818-DB85-9F50-2F57-38984C5C2FA4}"/>
              </a:ext>
            </a:extLst>
          </p:cNvPr>
          <p:cNvSpPr/>
          <p:nvPr/>
        </p:nvSpPr>
        <p:spPr>
          <a:xfrm>
            <a:off x="1649344" y="1938131"/>
            <a:ext cx="7583556" cy="341906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6698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B1DA5-FC66-85A4-065E-6D76AA500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79B0D097-B098-0164-EFA0-2F9A6F941E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606517-4D2E-53EE-2472-E1FE5E6C4A5E}"/>
              </a:ext>
            </a:extLst>
          </p:cNvPr>
          <p:cNvSpPr txBox="1"/>
          <p:nvPr/>
        </p:nvSpPr>
        <p:spPr>
          <a:xfrm>
            <a:off x="3985591" y="596348"/>
            <a:ext cx="27671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  ACT FAZA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E45063-42C0-D2DA-D66E-DF488B167208}"/>
              </a:ext>
            </a:extLst>
          </p:cNvPr>
          <p:cNvSpPr txBox="1"/>
          <p:nvPr/>
        </p:nvSpPr>
        <p:spPr>
          <a:xfrm>
            <a:off x="2584174" y="1839017"/>
            <a:ext cx="624882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Funkcija: Izvršavanje akcije u okruženju</a:t>
            </a:r>
            <a:br>
              <a:rPr lang="pl-PL" dirty="0">
                <a:solidFill>
                  <a:schemeClr val="bg1"/>
                </a:solidFill>
              </a:rPr>
            </a:br>
            <a:endParaRPr lang="pl-PL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// </a:t>
            </a:r>
            <a:r>
              <a:rPr lang="hr-HR" dirty="0" err="1">
                <a:solidFill>
                  <a:schemeClr val="bg1"/>
                </a:solidFill>
              </a:rPr>
              <a:t>ScoringService.cs</a:t>
            </a:r>
            <a:r>
              <a:rPr lang="hr-HR" dirty="0">
                <a:solidFill>
                  <a:schemeClr val="bg1"/>
                </a:solidFill>
              </a:rPr>
              <a:t> </a:t>
            </a:r>
          </a:p>
          <a:p>
            <a:br>
              <a:rPr lang="hr-HR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public async Task </a:t>
            </a:r>
            <a:r>
              <a:rPr lang="en-US" dirty="0" err="1">
                <a:solidFill>
                  <a:schemeClr val="bg1"/>
                </a:solidFill>
              </a:rPr>
              <a:t>ApplyDecisionAsync</a:t>
            </a:r>
            <a:r>
              <a:rPr lang="en-US" dirty="0">
                <a:solidFill>
                  <a:schemeClr val="bg1"/>
                </a:solidFill>
              </a:rPr>
              <a:t>(item, prediction)</a:t>
            </a:r>
          </a:p>
          <a:p>
            <a:r>
              <a:rPr lang="hr-HR" dirty="0">
                <a:solidFill>
                  <a:schemeClr val="bg1"/>
                </a:solidFill>
              </a:rPr>
              <a:t>{</a:t>
            </a:r>
          </a:p>
          <a:p>
            <a:r>
              <a:rPr lang="hr-HR" dirty="0">
                <a:solidFill>
                  <a:schemeClr val="bg1"/>
                </a:solidFill>
              </a:rPr>
              <a:t>	 // 1. Spremi predikciju</a:t>
            </a:r>
          </a:p>
          <a:p>
            <a:r>
              <a:rPr lang="hr-HR" dirty="0">
                <a:solidFill>
                  <a:schemeClr val="bg1"/>
                </a:solidFill>
              </a:rPr>
              <a:t>	_</a:t>
            </a:r>
            <a:r>
              <a:rPr lang="hr-HR" dirty="0" err="1">
                <a:solidFill>
                  <a:schemeClr val="bg1"/>
                </a:solidFill>
              </a:rPr>
              <a:t>context.TrendPredictions.Add</a:t>
            </a:r>
            <a:r>
              <a:rPr lang="hr-HR" dirty="0">
                <a:solidFill>
                  <a:schemeClr val="bg1"/>
                </a:solidFill>
              </a:rPr>
              <a:t>(</a:t>
            </a:r>
            <a:r>
              <a:rPr lang="hr-HR" dirty="0" err="1">
                <a:solidFill>
                  <a:schemeClr val="bg1"/>
                </a:solidFill>
              </a:rPr>
              <a:t>prediction</a:t>
            </a:r>
            <a:r>
              <a:rPr lang="hr-HR" dirty="0">
                <a:solidFill>
                  <a:schemeClr val="bg1"/>
                </a:solidFill>
              </a:rPr>
              <a:t>);</a:t>
            </a:r>
          </a:p>
          <a:p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	// 2. Ažuriraj status artikla</a:t>
            </a:r>
          </a:p>
          <a:p>
            <a:r>
              <a:rPr lang="hr-HR" dirty="0">
                <a:solidFill>
                  <a:schemeClr val="bg1"/>
                </a:solidFill>
              </a:rPr>
              <a:t>	</a:t>
            </a:r>
            <a:r>
              <a:rPr lang="hr-HR" dirty="0" err="1">
                <a:solidFill>
                  <a:schemeClr val="bg1"/>
                </a:solidFill>
              </a:rPr>
              <a:t>item.Status</a:t>
            </a:r>
            <a:r>
              <a:rPr lang="hr-HR" dirty="0">
                <a:solidFill>
                  <a:schemeClr val="bg1"/>
                </a:solidFill>
              </a:rPr>
              <a:t> = </a:t>
            </a:r>
            <a:r>
              <a:rPr lang="hr-HR" dirty="0" err="1">
                <a:solidFill>
                  <a:schemeClr val="bg1"/>
                </a:solidFill>
              </a:rPr>
              <a:t>decision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switch</a:t>
            </a:r>
            <a:r>
              <a:rPr lang="hr-HR" dirty="0">
                <a:solidFill>
                  <a:schemeClr val="bg1"/>
                </a:solidFill>
              </a:rPr>
              <a:t> {</a:t>
            </a:r>
          </a:p>
          <a:p>
            <a:r>
              <a:rPr lang="hr-HR" dirty="0">
                <a:solidFill>
                  <a:schemeClr val="bg1"/>
                </a:solidFill>
              </a:rPr>
              <a:t>	    </a:t>
            </a:r>
            <a:r>
              <a:rPr lang="hr-HR" dirty="0" err="1">
                <a:solidFill>
                  <a:schemeClr val="bg1"/>
                </a:solidFill>
              </a:rPr>
              <a:t>Recommend</a:t>
            </a:r>
            <a:r>
              <a:rPr lang="hr-HR" dirty="0">
                <a:solidFill>
                  <a:schemeClr val="bg1"/>
                </a:solidFill>
              </a:rPr>
              <a:t> =&gt; </a:t>
            </a:r>
            <a:r>
              <a:rPr lang="hr-HR" dirty="0" err="1">
                <a:solidFill>
                  <a:schemeClr val="bg1"/>
                </a:solidFill>
              </a:rPr>
              <a:t>ItemStatus.Recommended</a:t>
            </a:r>
            <a:r>
              <a:rPr lang="hr-HR" dirty="0">
                <a:solidFill>
                  <a:schemeClr val="bg1"/>
                </a:solidFill>
              </a:rPr>
              <a:t>,</a:t>
            </a:r>
          </a:p>
          <a:p>
            <a:r>
              <a:rPr lang="hr-HR" dirty="0">
                <a:solidFill>
                  <a:schemeClr val="bg1"/>
                </a:solidFill>
              </a:rPr>
              <a:t>	    </a:t>
            </a:r>
            <a:r>
              <a:rPr lang="hr-HR" dirty="0" err="1">
                <a:solidFill>
                  <a:schemeClr val="bg1"/>
                </a:solidFill>
              </a:rPr>
              <a:t>Archive</a:t>
            </a:r>
            <a:r>
              <a:rPr lang="hr-HR" dirty="0">
                <a:solidFill>
                  <a:schemeClr val="bg1"/>
                </a:solidFill>
              </a:rPr>
              <a:t> =&gt; </a:t>
            </a:r>
            <a:r>
              <a:rPr lang="hr-HR" dirty="0" err="1">
                <a:solidFill>
                  <a:schemeClr val="bg1"/>
                </a:solidFill>
              </a:rPr>
              <a:t>ItemStatus.Archived</a:t>
            </a:r>
            <a:r>
              <a:rPr lang="hr-HR" dirty="0">
                <a:solidFill>
                  <a:schemeClr val="bg1"/>
                </a:solidFill>
              </a:rPr>
              <a:t>,</a:t>
            </a:r>
          </a:p>
          <a:p>
            <a:r>
              <a:rPr lang="hr-HR" dirty="0">
                <a:solidFill>
                  <a:schemeClr val="bg1"/>
                </a:solidFill>
              </a:rPr>
              <a:t>	    </a:t>
            </a:r>
            <a:r>
              <a:rPr lang="hr-HR" dirty="0" err="1">
                <a:solidFill>
                  <a:schemeClr val="bg1"/>
                </a:solidFill>
              </a:rPr>
              <a:t>PendingReview</a:t>
            </a:r>
            <a:r>
              <a:rPr lang="hr-HR" dirty="0">
                <a:solidFill>
                  <a:schemeClr val="bg1"/>
                </a:solidFill>
              </a:rPr>
              <a:t> =&gt; </a:t>
            </a:r>
            <a:r>
              <a:rPr lang="hr-HR" dirty="0" err="1">
                <a:solidFill>
                  <a:schemeClr val="bg1"/>
                </a:solidFill>
              </a:rPr>
              <a:t>ItemStatus.PendingReview</a:t>
            </a:r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	};</a:t>
            </a:r>
          </a:p>
          <a:p>
            <a:r>
              <a:rPr lang="hr-HR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66078F-93E8-2FB0-8C34-D7727385B7B6}"/>
              </a:ext>
            </a:extLst>
          </p:cNvPr>
          <p:cNvSpPr/>
          <p:nvPr/>
        </p:nvSpPr>
        <p:spPr>
          <a:xfrm>
            <a:off x="1818860" y="2226366"/>
            <a:ext cx="7414591" cy="4253948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48584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10F05-7480-210D-F71C-B9B049850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B78D7E63-C7A9-4BD5-CC68-74BE611BBE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B2D831-57EF-B58D-51FE-D0103CA267FD}"/>
              </a:ext>
            </a:extLst>
          </p:cNvPr>
          <p:cNvSpPr txBox="1"/>
          <p:nvPr/>
        </p:nvSpPr>
        <p:spPr>
          <a:xfrm>
            <a:off x="4114800" y="427382"/>
            <a:ext cx="3116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LEARN FAZA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067A6-2BDC-822F-475D-1514E41ACEED}"/>
              </a:ext>
            </a:extLst>
          </p:cNvPr>
          <p:cNvSpPr txBox="1"/>
          <p:nvPr/>
        </p:nvSpPr>
        <p:spPr>
          <a:xfrm>
            <a:off x="417444" y="1739348"/>
            <a:ext cx="7128875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400" dirty="0">
                <a:solidFill>
                  <a:schemeClr val="bg1"/>
                </a:solidFill>
              </a:rPr>
              <a:t>                                               DVA NIVOA UČENJA</a:t>
            </a:r>
            <a:r>
              <a:rPr lang="hr-HR" dirty="0">
                <a:solidFill>
                  <a:schemeClr val="bg1"/>
                </a:solidFill>
              </a:rPr>
              <a:t>: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NIVO 1: Real-time Analiza Preferencija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• Analizira </a:t>
            </a:r>
            <a:r>
              <a:rPr lang="hr-HR" dirty="0" err="1">
                <a:solidFill>
                  <a:schemeClr val="bg1"/>
                </a:solidFill>
              </a:rPr>
              <a:t>like</a:t>
            </a:r>
            <a:r>
              <a:rPr lang="hr-HR" dirty="0">
                <a:solidFill>
                  <a:schemeClr val="bg1"/>
                </a:solidFill>
              </a:rPr>
              <a:t>/</a:t>
            </a:r>
            <a:r>
              <a:rPr lang="hr-HR" dirty="0" err="1">
                <a:solidFill>
                  <a:schemeClr val="bg1"/>
                </a:solidFill>
              </a:rPr>
              <a:t>dislike</a:t>
            </a:r>
            <a:r>
              <a:rPr lang="hr-HR" dirty="0">
                <a:solidFill>
                  <a:schemeClr val="bg1"/>
                </a:solidFill>
              </a:rPr>
              <a:t> razloge</a:t>
            </a:r>
          </a:p>
          <a:p>
            <a:r>
              <a:rPr lang="hr-HR" dirty="0">
                <a:solidFill>
                  <a:schemeClr val="bg1"/>
                </a:solidFill>
              </a:rPr>
              <a:t>• Izračunava preferirane boje, materijale</a:t>
            </a:r>
          </a:p>
          <a:p>
            <a:r>
              <a:rPr lang="hr-HR" dirty="0">
                <a:solidFill>
                  <a:schemeClr val="bg1"/>
                </a:solidFill>
              </a:rPr>
              <a:t>• Određuje artikle za izbjegavanje</a:t>
            </a:r>
          </a:p>
          <a:p>
            <a:r>
              <a:rPr lang="hr-HR" dirty="0">
                <a:solidFill>
                  <a:schemeClr val="bg1"/>
                </a:solidFill>
              </a:rPr>
              <a:t>• Ažurira </a:t>
            </a:r>
            <a:r>
              <a:rPr lang="hr-HR" dirty="0" err="1">
                <a:solidFill>
                  <a:schemeClr val="bg1"/>
                </a:solidFill>
              </a:rPr>
              <a:t>score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calculation</a:t>
            </a:r>
            <a:r>
              <a:rPr lang="hr-HR" dirty="0">
                <a:solidFill>
                  <a:schemeClr val="bg1"/>
                </a:solidFill>
              </a:rPr>
              <a:t> </a:t>
            </a:r>
          </a:p>
          <a:p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AED56A-FA61-1CC0-E041-7908DD84CB49}"/>
              </a:ext>
            </a:extLst>
          </p:cNvPr>
          <p:cNvSpPr txBox="1"/>
          <p:nvPr/>
        </p:nvSpPr>
        <p:spPr>
          <a:xfrm>
            <a:off x="6095990" y="2662678"/>
            <a:ext cx="451117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 NIVO 2: Periodično </a:t>
            </a:r>
            <a:r>
              <a:rPr lang="hr-HR" dirty="0" err="1">
                <a:solidFill>
                  <a:schemeClr val="bg1"/>
                </a:solidFill>
              </a:rPr>
              <a:t>Retreniranje</a:t>
            </a:r>
            <a:r>
              <a:rPr lang="hr-HR" dirty="0">
                <a:solidFill>
                  <a:schemeClr val="bg1"/>
                </a:solidFill>
              </a:rPr>
              <a:t> Modela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• </a:t>
            </a:r>
            <a:r>
              <a:rPr lang="hr-HR" dirty="0" err="1">
                <a:solidFill>
                  <a:schemeClr val="bg1"/>
                </a:solidFill>
              </a:rPr>
              <a:t>Trigger</a:t>
            </a:r>
            <a:r>
              <a:rPr lang="hr-HR" dirty="0">
                <a:solidFill>
                  <a:schemeClr val="bg1"/>
                </a:solidFill>
              </a:rPr>
              <a:t>:    50+ novih </a:t>
            </a:r>
            <a:r>
              <a:rPr lang="hr-HR" dirty="0" err="1">
                <a:solidFill>
                  <a:schemeClr val="bg1"/>
                </a:solidFill>
              </a:rPr>
              <a:t>feedbackova</a:t>
            </a:r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• Trenira novi ML model</a:t>
            </a:r>
          </a:p>
          <a:p>
            <a:r>
              <a:rPr lang="hr-HR" dirty="0">
                <a:solidFill>
                  <a:schemeClr val="bg1"/>
                </a:solidFill>
              </a:rPr>
              <a:t>• Aktivira bolji model</a:t>
            </a:r>
          </a:p>
          <a:p>
            <a:r>
              <a:rPr lang="hr-HR" dirty="0">
                <a:solidFill>
                  <a:schemeClr val="bg1"/>
                </a:solidFill>
              </a:rPr>
              <a:t>• Čuva historiju verzija  </a:t>
            </a:r>
          </a:p>
          <a:p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DF5B42-3603-4ECE-2BD6-E085F9E9AD30}"/>
              </a:ext>
            </a:extLst>
          </p:cNvPr>
          <p:cNvSpPr/>
          <p:nvPr/>
        </p:nvSpPr>
        <p:spPr>
          <a:xfrm>
            <a:off x="285785" y="2366880"/>
            <a:ext cx="4840356" cy="240527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B69501-87C5-F91A-B73B-8434D0574B28}"/>
              </a:ext>
            </a:extLst>
          </p:cNvPr>
          <p:cNvSpPr/>
          <p:nvPr/>
        </p:nvSpPr>
        <p:spPr>
          <a:xfrm>
            <a:off x="5931397" y="2366880"/>
            <a:ext cx="4840356" cy="240527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15529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26965-C3CB-CBE1-C172-AA58F5881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2862D2C6-9E5E-EE43-010B-DBF011D346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FA069C-749C-729C-ABEA-A7FB0493446A}"/>
              </a:ext>
            </a:extLst>
          </p:cNvPr>
          <p:cNvSpPr txBox="1"/>
          <p:nvPr/>
        </p:nvSpPr>
        <p:spPr>
          <a:xfrm>
            <a:off x="3061252" y="398650"/>
            <a:ext cx="5343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SCORE CALCULATION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738FE3-8A32-0FB4-62D8-941D24726332}"/>
              </a:ext>
            </a:extLst>
          </p:cNvPr>
          <p:cNvSpPr txBox="1"/>
          <p:nvPr/>
        </p:nvSpPr>
        <p:spPr>
          <a:xfrm>
            <a:off x="2206487" y="1749287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hr-HR" dirty="0">
                <a:solidFill>
                  <a:schemeClr val="bg1"/>
                </a:solidFill>
              </a:rPr>
            </a:br>
            <a:endParaRPr lang="hr-HR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4C8578-53C0-6206-356D-C40D6F91B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005291"/>
              </p:ext>
            </p:extLst>
          </p:nvPr>
        </p:nvGraphicFramePr>
        <p:xfrm>
          <a:off x="1584739" y="1443631"/>
          <a:ext cx="8128000" cy="22148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056213128"/>
                    </a:ext>
                  </a:extLst>
                </a:gridCol>
              </a:tblGrid>
              <a:tr h="333530">
                <a:tc>
                  <a:txBody>
                    <a:bodyPr/>
                    <a:lstStyle/>
                    <a:p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		BOOST (+)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509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	        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+20  Preferirana boja 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098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	        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+15  Preferirani materijal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50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	        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+25  Preferirani trend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98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	        </a:t>
                      </a:r>
                      <a:r>
                        <a:rPr lang="it-IT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+20  </a:t>
                      </a:r>
                      <a:r>
                        <a:rPr lang="it-IT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Cijena</a:t>
                      </a:r>
                      <a:r>
                        <a:rPr lang="it-IT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ispod</a:t>
                      </a:r>
                      <a:r>
                        <a:rPr lang="it-IT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preferiranog</a:t>
                      </a:r>
                      <a:r>
                        <a:rPr lang="it-IT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586052"/>
                  </a:ext>
                </a:extLst>
              </a:tr>
              <a:tr h="2603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	        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+10  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rating *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5501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59BB72-E6CD-F5B2-8D89-8B85F0FB0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760091"/>
              </p:ext>
            </p:extLst>
          </p:nvPr>
        </p:nvGraphicFramePr>
        <p:xfrm>
          <a:off x="1584739" y="3964167"/>
          <a:ext cx="8128000" cy="151973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309083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>
                          <a:solidFill>
                            <a:schemeClr val="bg1"/>
                          </a:solidFill>
                        </a:rPr>
                        <a:t>			</a:t>
                      </a:r>
                      <a:r>
                        <a:rPr lang="hr-HR" sz="1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PENALTY (-)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52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	        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-30  Boja za izbjegavanje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13214"/>
                  </a:ext>
                </a:extLst>
              </a:tr>
              <a:tr h="4072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	        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-25  Materijal za izbjegavanje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807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	        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-20  Preskup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artikal</a:t>
                      </a:r>
                      <a:endParaRPr lang="hr-HR" sz="18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02719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8C43BB4-C2F1-FCED-018E-6CBD85AC9A0B}"/>
              </a:ext>
            </a:extLst>
          </p:cNvPr>
          <p:cNvSpPr txBox="1"/>
          <p:nvPr/>
        </p:nvSpPr>
        <p:spPr>
          <a:xfrm>
            <a:off x="2609879" y="5789554"/>
            <a:ext cx="64267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Final Score = Σ(Boosts) - Σ(Penalties) </a:t>
            </a:r>
          </a:p>
          <a:p>
            <a:endParaRPr lang="hr-H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428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4152A-D3E3-B23C-15D7-BD376E217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33257DCD-FBB2-1D87-F742-CDADD64973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0" y="9949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523CB2-C01B-FCD2-05DD-3279FC8D3078}"/>
              </a:ext>
            </a:extLst>
          </p:cNvPr>
          <p:cNvSpPr txBox="1"/>
          <p:nvPr/>
        </p:nvSpPr>
        <p:spPr>
          <a:xfrm>
            <a:off x="3458818" y="437322"/>
            <a:ext cx="3995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ML. NET  MODEL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52A2BE-7F40-CFD4-34B3-A4E3CE1D7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755252"/>
              </p:ext>
            </p:extLst>
          </p:nvPr>
        </p:nvGraphicFramePr>
        <p:xfrm>
          <a:off x="1392320" y="1928192"/>
          <a:ext cx="8128000" cy="378995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025351377"/>
                    </a:ext>
                  </a:extLst>
                </a:gridCol>
              </a:tblGrid>
              <a:tr h="406678">
                <a:tc>
                  <a:txBody>
                    <a:bodyPr/>
                    <a:lstStyle/>
                    <a:p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		PIPLINE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154112"/>
                  </a:ext>
                </a:extLst>
              </a:tr>
              <a:tr h="21754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1.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OneHotEncoding</a:t>
                      </a:r>
                      <a:endParaRPr lang="hr-HR" sz="18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     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Brand,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endParaRPr lang="hr-HR" sz="18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     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Material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Style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  <a:endParaRPr lang="hr-HR" sz="18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</a:b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Concatenate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Features</a:t>
                      </a:r>
                      <a:endParaRPr lang="hr-HR" sz="18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     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Encoded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categoricals</a:t>
                      </a:r>
                      <a:endParaRPr lang="hr-HR" sz="18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     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Price,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PopularityScore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CustomerRating</a:t>
                      </a:r>
                      <a:endParaRPr lang="hr-HR" sz="18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SDCA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Logistic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Regression</a:t>
                      </a:r>
                      <a:endParaRPr lang="hr-HR" sz="18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     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IsTrending</a:t>
                      </a:r>
                      <a:endParaRPr lang="hr-HR" sz="18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	     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Output: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Probability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[0.0 - 1.0]</a:t>
                      </a:r>
                      <a:b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hr-HR" sz="18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19454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B2F5DA8-112D-CB44-FB56-8333705DA653}"/>
              </a:ext>
            </a:extLst>
          </p:cNvPr>
          <p:cNvSpPr txBox="1"/>
          <p:nvPr/>
        </p:nvSpPr>
        <p:spPr>
          <a:xfrm>
            <a:off x="1307427" y="1330412"/>
            <a:ext cx="4302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Algoritam: SDCA </a:t>
            </a:r>
            <a:r>
              <a:rPr lang="hr-HR" dirty="0" err="1">
                <a:solidFill>
                  <a:schemeClr val="bg1"/>
                </a:solidFill>
              </a:rPr>
              <a:t>Logistic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Regression</a:t>
            </a:r>
            <a:r>
              <a:rPr lang="hr-HR" dirty="0">
                <a:solidFill>
                  <a:schemeClr val="bg1"/>
                </a:solidFill>
              </a:rPr>
              <a:t>  </a:t>
            </a:r>
          </a:p>
          <a:p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72D8C-12F8-EA94-5889-1E8CEC824AEB}"/>
              </a:ext>
            </a:extLst>
          </p:cNvPr>
          <p:cNvSpPr txBox="1"/>
          <p:nvPr/>
        </p:nvSpPr>
        <p:spPr>
          <a:xfrm>
            <a:off x="1392320" y="6021822"/>
            <a:ext cx="25490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Preciznost: ~80-90% </a:t>
            </a:r>
          </a:p>
          <a:p>
            <a:endParaRPr lang="hr-H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770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EDEA2-ECBB-21F8-1E97-48100C424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D55CD0EA-2626-1EDF-9E00-0E7AB1BDF2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9354BD-E788-5887-CD49-7650F2A73BF3}"/>
              </a:ext>
            </a:extLst>
          </p:cNvPr>
          <p:cNvSpPr txBox="1"/>
          <p:nvPr/>
        </p:nvSpPr>
        <p:spPr>
          <a:xfrm>
            <a:off x="3160644" y="318052"/>
            <a:ext cx="4988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TEHNOLOŠKI STACK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4DFFE8-8D92-FF0F-E016-B7CF6A44A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212163"/>
              </p:ext>
            </p:extLst>
          </p:nvPr>
        </p:nvGraphicFramePr>
        <p:xfrm>
          <a:off x="2031990" y="2280109"/>
          <a:ext cx="8127999" cy="25958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5734147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2754682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641149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Kategorija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Tehnologija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Verzija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327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8.0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73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Web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ASP.NET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Razor </a:t>
                      </a:r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Pages</a:t>
                      </a:r>
                      <a:endParaRPr lang="hr-HR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863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ORM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EF Core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8.0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175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Database</a:t>
                      </a: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SQLite</a:t>
                      </a:r>
                      <a:endParaRPr lang="hr-HR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52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ML.NET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3.0+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249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Frontend</a:t>
                      </a:r>
                      <a:endParaRPr lang="hr-HR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Bootstrap</a:t>
                      </a:r>
                      <a:endParaRPr lang="hr-HR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5.x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721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486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7CAD2-4822-B95A-57B4-B6E575782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92A1B155-25B2-559C-183B-42B8A5E36C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DC271B-0ECC-28AA-660F-376D1BF9E547}"/>
              </a:ext>
            </a:extLst>
          </p:cNvPr>
          <p:cNvSpPr txBox="1"/>
          <p:nvPr/>
        </p:nvSpPr>
        <p:spPr>
          <a:xfrm>
            <a:off x="2812774" y="298174"/>
            <a:ext cx="5660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STRUKTURA PROJEKTA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48CED8-5FB2-626D-EAC6-BBDA188B94A0}"/>
              </a:ext>
            </a:extLst>
          </p:cNvPr>
          <p:cNvSpPr txBox="1"/>
          <p:nvPr/>
        </p:nvSpPr>
        <p:spPr>
          <a:xfrm>
            <a:off x="1093305" y="1073426"/>
            <a:ext cx="705834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600" dirty="0">
                <a:solidFill>
                  <a:schemeClr val="bg1"/>
                </a:solidFill>
              </a:rPr>
              <a:t>AiAgent.sln</a:t>
            </a:r>
            <a:br>
              <a:rPr lang="hr-HR" sz="1600" dirty="0">
                <a:solidFill>
                  <a:schemeClr val="bg1"/>
                </a:solidFill>
              </a:rPr>
            </a:br>
            <a:br>
              <a:rPr lang="hr-HR" sz="1600" dirty="0">
                <a:solidFill>
                  <a:schemeClr val="bg1"/>
                </a:solidFill>
              </a:rPr>
            </a:br>
            <a:r>
              <a:rPr lang="hr-HR" sz="1600" dirty="0">
                <a:solidFill>
                  <a:schemeClr val="bg1"/>
                </a:solidFill>
              </a:rPr>
              <a:t>	</a:t>
            </a:r>
            <a:r>
              <a:rPr lang="hr-HR" sz="1600" dirty="0" err="1">
                <a:solidFill>
                  <a:schemeClr val="bg1"/>
                </a:solidFill>
              </a:rPr>
              <a:t>AiAgents.Core</a:t>
            </a:r>
            <a:r>
              <a:rPr lang="hr-HR" sz="1600" dirty="0">
                <a:solidFill>
                  <a:schemeClr val="bg1"/>
                </a:solidFill>
              </a:rPr>
              <a:t>/</a:t>
            </a:r>
          </a:p>
          <a:p>
            <a:r>
              <a:rPr lang="hr-HR" sz="1600" dirty="0">
                <a:solidFill>
                  <a:schemeClr val="bg1"/>
                </a:solidFill>
              </a:rPr>
              <a:t>		Agent apstrakcije ( </a:t>
            </a:r>
            <a:r>
              <a:rPr lang="hr-HR" sz="1600" dirty="0" err="1">
                <a:solidFill>
                  <a:schemeClr val="bg1"/>
                </a:solidFill>
              </a:rPr>
              <a:t>interfaces</a:t>
            </a:r>
            <a:r>
              <a:rPr lang="hr-HR" sz="1600" dirty="0">
                <a:solidFill>
                  <a:schemeClr val="bg1"/>
                </a:solidFill>
              </a:rPr>
              <a:t> )</a:t>
            </a:r>
          </a:p>
          <a:p>
            <a:endParaRPr lang="hr-HR" sz="1600" dirty="0">
              <a:solidFill>
                <a:schemeClr val="bg1"/>
              </a:solidFill>
            </a:endParaRPr>
          </a:p>
          <a:p>
            <a:r>
              <a:rPr lang="hr-HR" sz="1600" dirty="0">
                <a:solidFill>
                  <a:schemeClr val="bg1"/>
                </a:solidFill>
              </a:rPr>
              <a:t>	</a:t>
            </a:r>
            <a:r>
              <a:rPr lang="hr-HR" sz="1600" dirty="0" err="1">
                <a:solidFill>
                  <a:schemeClr val="bg1"/>
                </a:solidFill>
              </a:rPr>
              <a:t>AiAgents.FashionAgent</a:t>
            </a:r>
            <a:r>
              <a:rPr lang="hr-HR" sz="1600" dirty="0">
                <a:solidFill>
                  <a:schemeClr val="bg1"/>
                </a:solidFill>
              </a:rPr>
              <a:t>/</a:t>
            </a:r>
          </a:p>
          <a:p>
            <a:r>
              <a:rPr lang="hr-HR" sz="1600" dirty="0">
                <a:solidFill>
                  <a:schemeClr val="bg1"/>
                </a:solidFill>
              </a:rPr>
              <a:t>		</a:t>
            </a:r>
            <a:r>
              <a:rPr lang="hr-HR" sz="1600" dirty="0" err="1">
                <a:solidFill>
                  <a:schemeClr val="bg1"/>
                </a:solidFill>
              </a:rPr>
              <a:t>Domain</a:t>
            </a:r>
            <a:r>
              <a:rPr lang="hr-HR" sz="1600" dirty="0">
                <a:solidFill>
                  <a:schemeClr val="bg1"/>
                </a:solidFill>
              </a:rPr>
              <a:t>/</a:t>
            </a:r>
          </a:p>
          <a:p>
            <a:r>
              <a:rPr lang="hr-HR" sz="1600" dirty="0">
                <a:solidFill>
                  <a:schemeClr val="bg1"/>
                </a:solidFill>
              </a:rPr>
              <a:t>			</a:t>
            </a:r>
            <a:r>
              <a:rPr lang="hr-HR" sz="1600" dirty="0" err="1">
                <a:solidFill>
                  <a:schemeClr val="bg1"/>
                </a:solidFill>
              </a:rPr>
              <a:t>Entities</a:t>
            </a:r>
            <a:r>
              <a:rPr lang="hr-HR" sz="1600" dirty="0">
                <a:solidFill>
                  <a:schemeClr val="bg1"/>
                </a:solidFill>
              </a:rPr>
              <a:t>/ ( </a:t>
            </a:r>
            <a:r>
              <a:rPr lang="hr-HR" sz="1600" dirty="0" err="1">
                <a:solidFill>
                  <a:schemeClr val="bg1"/>
                </a:solidFill>
              </a:rPr>
              <a:t>ClothingItem</a:t>
            </a:r>
            <a:r>
              <a:rPr lang="hr-HR" sz="1600" dirty="0">
                <a:solidFill>
                  <a:schemeClr val="bg1"/>
                </a:solidFill>
              </a:rPr>
              <a:t>, </a:t>
            </a:r>
            <a:r>
              <a:rPr lang="hr-HR" sz="1600" dirty="0" err="1">
                <a:solidFill>
                  <a:schemeClr val="bg1"/>
                </a:solidFill>
              </a:rPr>
              <a:t>TrendPrediction</a:t>
            </a:r>
            <a:r>
              <a:rPr lang="hr-HR" sz="1600" dirty="0">
                <a:solidFill>
                  <a:schemeClr val="bg1"/>
                </a:solidFill>
              </a:rPr>
              <a:t>… )</a:t>
            </a:r>
          </a:p>
          <a:p>
            <a:r>
              <a:rPr lang="hr-HR" sz="1600" dirty="0">
                <a:solidFill>
                  <a:schemeClr val="bg1"/>
                </a:solidFill>
              </a:rPr>
              <a:t>			</a:t>
            </a:r>
            <a:r>
              <a:rPr lang="hr-HR" sz="1600" dirty="0" err="1">
                <a:solidFill>
                  <a:schemeClr val="bg1"/>
                </a:solidFill>
              </a:rPr>
              <a:t>Enums</a:t>
            </a:r>
            <a:r>
              <a:rPr lang="hr-HR" sz="1600" dirty="0">
                <a:solidFill>
                  <a:schemeClr val="bg1"/>
                </a:solidFill>
              </a:rPr>
              <a:t>/  ( </a:t>
            </a:r>
            <a:r>
              <a:rPr lang="hr-HR" sz="1600" dirty="0" err="1">
                <a:solidFill>
                  <a:schemeClr val="bg1"/>
                </a:solidFill>
              </a:rPr>
              <a:t>ItemStatus</a:t>
            </a:r>
            <a:r>
              <a:rPr lang="hr-HR" sz="1600" dirty="0">
                <a:solidFill>
                  <a:schemeClr val="bg1"/>
                </a:solidFill>
              </a:rPr>
              <a:t>, </a:t>
            </a:r>
            <a:r>
              <a:rPr lang="hr-HR" sz="1600" dirty="0" err="1">
                <a:solidFill>
                  <a:schemeClr val="bg1"/>
                </a:solidFill>
              </a:rPr>
              <a:t>TrendDecison</a:t>
            </a:r>
            <a:r>
              <a:rPr lang="hr-HR" sz="1600" dirty="0">
                <a:solidFill>
                  <a:schemeClr val="bg1"/>
                </a:solidFill>
              </a:rPr>
              <a:t> )</a:t>
            </a:r>
          </a:p>
          <a:p>
            <a:r>
              <a:rPr lang="hr-HR" sz="1600" dirty="0">
                <a:solidFill>
                  <a:schemeClr val="bg1"/>
                </a:solidFill>
              </a:rPr>
              <a:t>		</a:t>
            </a:r>
            <a:r>
              <a:rPr lang="hr-HR" sz="1600" dirty="0" err="1">
                <a:solidFill>
                  <a:schemeClr val="bg1"/>
                </a:solidFill>
              </a:rPr>
              <a:t>Application</a:t>
            </a:r>
            <a:r>
              <a:rPr lang="hr-HR" sz="1600" dirty="0">
                <a:solidFill>
                  <a:schemeClr val="bg1"/>
                </a:solidFill>
              </a:rPr>
              <a:t>/</a:t>
            </a:r>
          </a:p>
          <a:p>
            <a:r>
              <a:rPr lang="hr-HR" sz="1600" dirty="0">
                <a:solidFill>
                  <a:schemeClr val="bg1"/>
                </a:solidFill>
              </a:rPr>
              <a:t>			</a:t>
            </a:r>
            <a:r>
              <a:rPr lang="hr-HR" sz="1600" dirty="0" err="1">
                <a:solidFill>
                  <a:schemeClr val="bg1"/>
                </a:solidFill>
              </a:rPr>
              <a:t>Runners</a:t>
            </a:r>
            <a:r>
              <a:rPr lang="hr-HR" sz="1600" dirty="0">
                <a:solidFill>
                  <a:schemeClr val="bg1"/>
                </a:solidFill>
              </a:rPr>
              <a:t>/ ( </a:t>
            </a:r>
            <a:r>
              <a:rPr lang="hr-HR" sz="1600" dirty="0" err="1">
                <a:solidFill>
                  <a:schemeClr val="bg1"/>
                </a:solidFill>
              </a:rPr>
              <a:t>ScoringAgent</a:t>
            </a:r>
            <a:r>
              <a:rPr lang="hr-HR" sz="1600" dirty="0">
                <a:solidFill>
                  <a:schemeClr val="bg1"/>
                </a:solidFill>
              </a:rPr>
              <a:t>, </a:t>
            </a:r>
            <a:r>
              <a:rPr lang="hr-HR" sz="1600" dirty="0" err="1">
                <a:solidFill>
                  <a:schemeClr val="bg1"/>
                </a:solidFill>
              </a:rPr>
              <a:t>RetrainAgent</a:t>
            </a:r>
            <a:r>
              <a:rPr lang="hr-HR" sz="1600" dirty="0">
                <a:solidFill>
                  <a:schemeClr val="bg1"/>
                </a:solidFill>
              </a:rPr>
              <a:t> )</a:t>
            </a:r>
          </a:p>
          <a:p>
            <a:r>
              <a:rPr lang="hr-HR" sz="1600" dirty="0">
                <a:solidFill>
                  <a:schemeClr val="bg1"/>
                </a:solidFill>
              </a:rPr>
              <a:t>			</a:t>
            </a:r>
            <a:r>
              <a:rPr lang="hr-HR" sz="1600" dirty="0" err="1">
                <a:solidFill>
                  <a:schemeClr val="bg1"/>
                </a:solidFill>
              </a:rPr>
              <a:t>Services</a:t>
            </a:r>
            <a:r>
              <a:rPr lang="hr-HR" sz="1600" dirty="0">
                <a:solidFill>
                  <a:schemeClr val="bg1"/>
                </a:solidFill>
              </a:rPr>
              <a:t>/ ( </a:t>
            </a:r>
            <a:r>
              <a:rPr lang="hr-HR" sz="1600" dirty="0" err="1">
                <a:solidFill>
                  <a:schemeClr val="bg1"/>
                </a:solidFill>
              </a:rPr>
              <a:t>Queue</a:t>
            </a:r>
            <a:r>
              <a:rPr lang="hr-HR" sz="1600" dirty="0">
                <a:solidFill>
                  <a:schemeClr val="bg1"/>
                </a:solidFill>
              </a:rPr>
              <a:t>, </a:t>
            </a:r>
            <a:r>
              <a:rPr lang="hr-HR" sz="1600" dirty="0" err="1">
                <a:solidFill>
                  <a:schemeClr val="bg1"/>
                </a:solidFill>
              </a:rPr>
              <a:t>Scoring</a:t>
            </a:r>
            <a:r>
              <a:rPr lang="hr-HR" sz="1600" dirty="0">
                <a:solidFill>
                  <a:schemeClr val="bg1"/>
                </a:solidFill>
              </a:rPr>
              <a:t>, Training )</a:t>
            </a:r>
          </a:p>
          <a:p>
            <a:r>
              <a:rPr lang="hr-HR" sz="1600" dirty="0">
                <a:solidFill>
                  <a:schemeClr val="bg1"/>
                </a:solidFill>
              </a:rPr>
              <a:t>		</a:t>
            </a:r>
            <a:r>
              <a:rPr lang="hr-HR" sz="1600" dirty="0" err="1">
                <a:solidFill>
                  <a:schemeClr val="bg1"/>
                </a:solidFill>
              </a:rPr>
              <a:t>Infrastucture</a:t>
            </a:r>
            <a:r>
              <a:rPr lang="hr-HR" sz="1600" dirty="0">
                <a:solidFill>
                  <a:schemeClr val="bg1"/>
                </a:solidFill>
              </a:rPr>
              <a:t>/ </a:t>
            </a:r>
          </a:p>
          <a:p>
            <a:r>
              <a:rPr lang="hr-HR" sz="1600" dirty="0">
                <a:solidFill>
                  <a:schemeClr val="bg1"/>
                </a:solidFill>
              </a:rPr>
              <a:t>			</a:t>
            </a:r>
            <a:r>
              <a:rPr lang="hr-HR" sz="1600" dirty="0" err="1">
                <a:solidFill>
                  <a:schemeClr val="bg1"/>
                </a:solidFill>
              </a:rPr>
              <a:t>DbContext</a:t>
            </a:r>
            <a:r>
              <a:rPr lang="hr-HR" sz="1600" dirty="0">
                <a:solidFill>
                  <a:schemeClr val="bg1"/>
                </a:solidFill>
              </a:rPr>
              <a:t>, </a:t>
            </a:r>
            <a:r>
              <a:rPr lang="hr-HR" sz="1600" dirty="0" err="1">
                <a:solidFill>
                  <a:schemeClr val="bg1"/>
                </a:solidFill>
              </a:rPr>
              <a:t>LearningService</a:t>
            </a:r>
            <a:endParaRPr lang="hr-HR" sz="1600" dirty="0">
              <a:solidFill>
                <a:schemeClr val="bg1"/>
              </a:solidFill>
            </a:endParaRPr>
          </a:p>
          <a:p>
            <a:r>
              <a:rPr lang="hr-HR" sz="1600" dirty="0">
                <a:solidFill>
                  <a:schemeClr val="bg1"/>
                </a:solidFill>
              </a:rPr>
              <a:t>		ML/</a:t>
            </a:r>
          </a:p>
          <a:p>
            <a:r>
              <a:rPr lang="hr-HR" sz="1600" dirty="0">
                <a:solidFill>
                  <a:schemeClr val="bg1"/>
                </a:solidFill>
              </a:rPr>
              <a:t>			</a:t>
            </a:r>
            <a:r>
              <a:rPr lang="hr-HR" sz="1600" dirty="0" err="1">
                <a:solidFill>
                  <a:schemeClr val="bg1"/>
                </a:solidFill>
              </a:rPr>
              <a:t>MlNetFashionClassifier</a:t>
            </a:r>
            <a:endParaRPr lang="hr-HR" sz="1600" dirty="0">
              <a:solidFill>
                <a:schemeClr val="bg1"/>
              </a:solidFill>
            </a:endParaRPr>
          </a:p>
          <a:p>
            <a:r>
              <a:rPr lang="hr-HR" sz="1600" dirty="0">
                <a:solidFill>
                  <a:schemeClr val="bg1"/>
                </a:solidFill>
              </a:rPr>
              <a:t>	</a:t>
            </a:r>
          </a:p>
          <a:p>
            <a:r>
              <a:rPr lang="hr-HR" sz="1600" dirty="0">
                <a:solidFill>
                  <a:schemeClr val="bg1"/>
                </a:solidFill>
              </a:rPr>
              <a:t>	</a:t>
            </a:r>
            <a:r>
              <a:rPr lang="hr-HR" sz="1600" dirty="0" err="1">
                <a:solidFill>
                  <a:schemeClr val="bg1"/>
                </a:solidFill>
              </a:rPr>
              <a:t>AiAgents.FashionAgent.Web</a:t>
            </a:r>
            <a:r>
              <a:rPr lang="hr-HR" sz="1600" dirty="0">
                <a:solidFill>
                  <a:schemeClr val="bg1"/>
                </a:solidFill>
              </a:rPr>
              <a:t>/</a:t>
            </a:r>
          </a:p>
          <a:p>
            <a:r>
              <a:rPr lang="hr-HR" sz="1600" dirty="0">
                <a:solidFill>
                  <a:schemeClr val="bg1"/>
                </a:solidFill>
              </a:rPr>
              <a:t>		</a:t>
            </a:r>
            <a:r>
              <a:rPr lang="hr-HR" sz="1600" dirty="0" err="1">
                <a:solidFill>
                  <a:schemeClr val="bg1"/>
                </a:solidFill>
              </a:rPr>
              <a:t>Controllers</a:t>
            </a:r>
            <a:r>
              <a:rPr lang="hr-HR" sz="1600" dirty="0">
                <a:solidFill>
                  <a:schemeClr val="bg1"/>
                </a:solidFill>
              </a:rPr>
              <a:t>/</a:t>
            </a:r>
          </a:p>
          <a:p>
            <a:r>
              <a:rPr lang="hr-HR" sz="1600" dirty="0">
                <a:solidFill>
                  <a:schemeClr val="bg1"/>
                </a:solidFill>
              </a:rPr>
              <a:t>		</a:t>
            </a:r>
            <a:r>
              <a:rPr lang="hr-HR" sz="1600" dirty="0" err="1">
                <a:solidFill>
                  <a:schemeClr val="bg1"/>
                </a:solidFill>
              </a:rPr>
              <a:t>Views</a:t>
            </a:r>
            <a:r>
              <a:rPr lang="hr-HR" sz="1600" dirty="0">
                <a:solidFill>
                  <a:schemeClr val="bg1"/>
                </a:solidFill>
              </a:rPr>
              <a:t>/ </a:t>
            </a:r>
          </a:p>
          <a:p>
            <a:r>
              <a:rPr lang="hr-HR" sz="1600" dirty="0">
                <a:solidFill>
                  <a:schemeClr val="bg1"/>
                </a:solidFill>
              </a:rPr>
              <a:t>		</a:t>
            </a:r>
            <a:r>
              <a:rPr lang="hr-HR" sz="1600" dirty="0" err="1">
                <a:solidFill>
                  <a:schemeClr val="bg1"/>
                </a:solidFill>
              </a:rPr>
              <a:t>BackgroundWorkers</a:t>
            </a:r>
            <a:r>
              <a:rPr lang="hr-HR" sz="1600" dirty="0">
                <a:solidFill>
                  <a:schemeClr val="bg1"/>
                </a:solidFill>
              </a:rPr>
              <a:t>/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BCEF8BCB-3E57-027C-6336-4BA455DBF6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-367749" y="2971799"/>
            <a:ext cx="4134682" cy="755377"/>
          </a:xfrm>
          <a:prstGeom prst="bentConnector3">
            <a:avLst>
              <a:gd name="adj1" fmla="val 99760"/>
            </a:avLst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1537D91-C295-2403-BF52-026123F7C1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42999" y="1540563"/>
            <a:ext cx="1113187" cy="755378"/>
          </a:xfrm>
          <a:prstGeom prst="bentConnector3">
            <a:avLst>
              <a:gd name="adj1" fmla="val 100000"/>
            </a:avLst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09D2CAF9-03ED-DA66-8E65-16B125CD570E}"/>
              </a:ext>
            </a:extLst>
          </p:cNvPr>
          <p:cNvCxnSpPr>
            <a:cxnSpLocks/>
          </p:cNvCxnSpPr>
          <p:nvPr/>
        </p:nvCxnSpPr>
        <p:spPr>
          <a:xfrm>
            <a:off x="1328533" y="1285459"/>
            <a:ext cx="748750" cy="483709"/>
          </a:xfrm>
          <a:prstGeom prst="bentConnector3">
            <a:avLst>
              <a:gd name="adj1" fmla="val -442"/>
            </a:avLst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1E868C0F-2A18-A094-00F8-49978AA52026}"/>
              </a:ext>
            </a:extLst>
          </p:cNvPr>
          <p:cNvCxnSpPr>
            <a:cxnSpLocks/>
          </p:cNvCxnSpPr>
          <p:nvPr/>
        </p:nvCxnSpPr>
        <p:spPr>
          <a:xfrm>
            <a:off x="2305879" y="1769168"/>
            <a:ext cx="626164" cy="228597"/>
          </a:xfrm>
          <a:prstGeom prst="bentConnector3">
            <a:avLst>
              <a:gd name="adj1" fmla="val -396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EB49201D-5E61-D180-CC6C-E7FB4F5DCBAF}"/>
              </a:ext>
            </a:extLst>
          </p:cNvPr>
          <p:cNvCxnSpPr>
            <a:cxnSpLocks/>
          </p:cNvCxnSpPr>
          <p:nvPr/>
        </p:nvCxnSpPr>
        <p:spPr>
          <a:xfrm>
            <a:off x="2281033" y="2518165"/>
            <a:ext cx="626164" cy="228597"/>
          </a:xfrm>
          <a:prstGeom prst="bentConnector3">
            <a:avLst>
              <a:gd name="adj1" fmla="val -396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2EA91F43-FCF9-14A3-763D-5A67B9D1ABE8}"/>
              </a:ext>
            </a:extLst>
          </p:cNvPr>
          <p:cNvCxnSpPr>
            <a:cxnSpLocks/>
          </p:cNvCxnSpPr>
          <p:nvPr/>
        </p:nvCxnSpPr>
        <p:spPr>
          <a:xfrm>
            <a:off x="2305879" y="5416829"/>
            <a:ext cx="626164" cy="228597"/>
          </a:xfrm>
          <a:prstGeom prst="bentConnector3">
            <a:avLst>
              <a:gd name="adj1" fmla="val -396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9F013FEC-FA13-2C48-C685-85CC07FFAA3B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23195" y="2620152"/>
            <a:ext cx="941836" cy="675860"/>
          </a:xfrm>
          <a:prstGeom prst="bentConnector3">
            <a:avLst>
              <a:gd name="adj1" fmla="val 100654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726FF39C-9F4A-D1F9-0624-1324AB5FEED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44947" y="3079892"/>
            <a:ext cx="1498332" cy="675860"/>
          </a:xfrm>
          <a:prstGeom prst="bentConnector3">
            <a:avLst>
              <a:gd name="adj1" fmla="val 9908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21B9D9D1-DDF4-E502-1C07-B18399CAF55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4621" y="3208725"/>
            <a:ext cx="2118984" cy="675860"/>
          </a:xfrm>
          <a:prstGeom prst="bentConnector3">
            <a:avLst>
              <a:gd name="adj1" fmla="val 10018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91473807-F113-BEE0-4BED-40623193852C}"/>
              </a:ext>
            </a:extLst>
          </p:cNvPr>
          <p:cNvCxnSpPr>
            <a:cxnSpLocks/>
          </p:cNvCxnSpPr>
          <p:nvPr/>
        </p:nvCxnSpPr>
        <p:spPr>
          <a:xfrm>
            <a:off x="2231337" y="5445995"/>
            <a:ext cx="675860" cy="467136"/>
          </a:xfrm>
          <a:prstGeom prst="bentConnector3">
            <a:avLst>
              <a:gd name="adj1" fmla="val 5882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544847F7-0B4B-FA2B-ED74-A0AB78D4A655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13377" y="5484483"/>
            <a:ext cx="761473" cy="626166"/>
          </a:xfrm>
          <a:prstGeom prst="bentConnector3">
            <a:avLst>
              <a:gd name="adj1" fmla="val 10090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0469E611-32FD-2F87-B9A8-E6A8957EAB44}"/>
              </a:ext>
            </a:extLst>
          </p:cNvPr>
          <p:cNvCxnSpPr/>
          <p:nvPr/>
        </p:nvCxnSpPr>
        <p:spPr>
          <a:xfrm>
            <a:off x="3130826" y="2811302"/>
            <a:ext cx="824948" cy="447261"/>
          </a:xfrm>
          <a:prstGeom prst="bentConnector3">
            <a:avLst>
              <a:gd name="adj1" fmla="val 662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D60AEB52-989D-0B39-D4D0-5CEAC688C411}"/>
              </a:ext>
            </a:extLst>
          </p:cNvPr>
          <p:cNvCxnSpPr/>
          <p:nvPr/>
        </p:nvCxnSpPr>
        <p:spPr>
          <a:xfrm>
            <a:off x="3200400" y="2801429"/>
            <a:ext cx="755374" cy="223630"/>
          </a:xfrm>
          <a:prstGeom prst="bentConnector3">
            <a:avLst>
              <a:gd name="adj1" fmla="val -263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DF6C4BF9-7BD5-EF27-1639-8B024FE6DBA0}"/>
              </a:ext>
            </a:extLst>
          </p:cNvPr>
          <p:cNvCxnSpPr/>
          <p:nvPr/>
        </p:nvCxnSpPr>
        <p:spPr>
          <a:xfrm>
            <a:off x="3130826" y="3546654"/>
            <a:ext cx="755374" cy="223630"/>
          </a:xfrm>
          <a:prstGeom prst="bentConnector3">
            <a:avLst>
              <a:gd name="adj1" fmla="val -263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2AAEAFFD-C2F3-EAFC-ED31-6910DCFB97C3}"/>
              </a:ext>
            </a:extLst>
          </p:cNvPr>
          <p:cNvCxnSpPr/>
          <p:nvPr/>
        </p:nvCxnSpPr>
        <p:spPr>
          <a:xfrm>
            <a:off x="3061252" y="3546654"/>
            <a:ext cx="824948" cy="447261"/>
          </a:xfrm>
          <a:prstGeom prst="bentConnector3">
            <a:avLst>
              <a:gd name="adj1" fmla="val 662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37E46618-B563-9402-4D50-04A95A3A07CF}"/>
              </a:ext>
            </a:extLst>
          </p:cNvPr>
          <p:cNvCxnSpPr/>
          <p:nvPr/>
        </p:nvCxnSpPr>
        <p:spPr>
          <a:xfrm>
            <a:off x="3170586" y="4282006"/>
            <a:ext cx="755374" cy="223630"/>
          </a:xfrm>
          <a:prstGeom prst="bentConnector3">
            <a:avLst>
              <a:gd name="adj1" fmla="val -263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36D3A5CF-061B-009F-A766-CC20D122DB70}"/>
              </a:ext>
            </a:extLst>
          </p:cNvPr>
          <p:cNvCxnSpPr/>
          <p:nvPr/>
        </p:nvCxnSpPr>
        <p:spPr>
          <a:xfrm>
            <a:off x="3165613" y="4731885"/>
            <a:ext cx="755374" cy="223630"/>
          </a:xfrm>
          <a:prstGeom prst="bentConnector3">
            <a:avLst>
              <a:gd name="adj1" fmla="val -263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551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F0D18-4D3E-8808-F3AA-C536E5280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4DE5B1A6-79D2-101D-2E57-896735CC4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4AD6B9-C914-A9D6-F265-0A557BD7D80C}"/>
              </a:ext>
            </a:extLst>
          </p:cNvPr>
          <p:cNvSpPr txBox="1"/>
          <p:nvPr/>
        </p:nvSpPr>
        <p:spPr>
          <a:xfrm>
            <a:off x="2057400" y="278296"/>
            <a:ext cx="6926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WEB UI – FEEDBACK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7D52A5-70A3-D854-B50C-2ED00CB016AC}"/>
              </a:ext>
            </a:extLst>
          </p:cNvPr>
          <p:cNvSpPr txBox="1"/>
          <p:nvPr/>
        </p:nvSpPr>
        <p:spPr>
          <a:xfrm>
            <a:off x="1451113" y="1427096"/>
            <a:ext cx="720587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		CLOTHING ITEM 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 	    Nike </a:t>
            </a:r>
            <a:r>
              <a:rPr lang="hr-HR" dirty="0" err="1">
                <a:solidFill>
                  <a:schemeClr val="bg1"/>
                </a:solidFill>
              </a:rPr>
              <a:t>Jacket</a:t>
            </a:r>
            <a:r>
              <a:rPr lang="hr-HR" dirty="0">
                <a:solidFill>
                  <a:schemeClr val="bg1"/>
                </a:solidFill>
              </a:rPr>
              <a:t> - $149</a:t>
            </a:r>
          </a:p>
          <a:p>
            <a:r>
              <a:rPr lang="hr-HR" dirty="0">
                <a:solidFill>
                  <a:schemeClr val="bg1"/>
                </a:solidFill>
              </a:rPr>
              <a:t>	   </a:t>
            </a:r>
            <a:r>
              <a:rPr lang="hr-HR" dirty="0" err="1">
                <a:solidFill>
                  <a:schemeClr val="bg1"/>
                </a:solidFill>
              </a:rPr>
              <a:t>Material</a:t>
            </a:r>
            <a:r>
              <a:rPr lang="hr-HR" dirty="0">
                <a:solidFill>
                  <a:schemeClr val="bg1"/>
                </a:solidFill>
              </a:rPr>
              <a:t>_ </a:t>
            </a:r>
            <a:r>
              <a:rPr lang="hr-HR" dirty="0" err="1">
                <a:solidFill>
                  <a:schemeClr val="bg1"/>
                </a:solidFill>
              </a:rPr>
              <a:t>Leather</a:t>
            </a:r>
            <a:r>
              <a:rPr lang="hr-HR" dirty="0">
                <a:solidFill>
                  <a:schemeClr val="bg1"/>
                </a:solidFill>
              </a:rPr>
              <a:t> | </a:t>
            </a:r>
            <a:r>
              <a:rPr lang="hr-HR" dirty="0" err="1">
                <a:solidFill>
                  <a:schemeClr val="bg1"/>
                </a:solidFill>
              </a:rPr>
              <a:t>Style</a:t>
            </a:r>
            <a:r>
              <a:rPr lang="hr-HR" dirty="0">
                <a:solidFill>
                  <a:schemeClr val="bg1"/>
                </a:solidFill>
              </a:rPr>
              <a:t>: </a:t>
            </a:r>
            <a:r>
              <a:rPr lang="hr-HR" dirty="0" err="1">
                <a:solidFill>
                  <a:schemeClr val="bg1"/>
                </a:solidFill>
              </a:rPr>
              <a:t>Casual</a:t>
            </a:r>
            <a:r>
              <a:rPr lang="hr-HR" dirty="0">
                <a:solidFill>
                  <a:schemeClr val="bg1"/>
                </a:solidFill>
              </a:rPr>
              <a:t> | Rating: 4.5 ⭐</a:t>
            </a:r>
          </a:p>
          <a:p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	     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	           [👍 LIKE ]    [ 👎 DISLIKE ]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endParaRPr lang="hr-HR" dirty="0">
              <a:solidFill>
                <a:schemeClr val="bg1"/>
              </a:solidFill>
            </a:endParaRP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		</a:t>
            </a:r>
            <a:r>
              <a:rPr lang="en-US" dirty="0">
                <a:solidFill>
                  <a:schemeClr val="bg1"/>
                </a:solidFill>
              </a:rPr>
              <a:t>WHY DO YOU LIKE/DISLIKE?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	          [💰 Price] [🧵 </a:t>
            </a:r>
            <a:r>
              <a:rPr lang="hr-HR" dirty="0" err="1">
                <a:solidFill>
                  <a:schemeClr val="bg1"/>
                </a:solidFill>
              </a:rPr>
              <a:t>Material</a:t>
            </a:r>
            <a:r>
              <a:rPr lang="hr-HR" dirty="0">
                <a:solidFill>
                  <a:schemeClr val="bg1"/>
                </a:solidFill>
              </a:rPr>
              <a:t>] [✨ </a:t>
            </a:r>
            <a:r>
              <a:rPr lang="hr-HR" dirty="0" err="1">
                <a:solidFill>
                  <a:schemeClr val="bg1"/>
                </a:solidFill>
              </a:rPr>
              <a:t>Style</a:t>
            </a:r>
            <a:r>
              <a:rPr lang="hr-HR" dirty="0">
                <a:solidFill>
                  <a:schemeClr val="bg1"/>
                </a:solidFill>
              </a:rPr>
              <a:t>]</a:t>
            </a:r>
          </a:p>
          <a:p>
            <a:r>
              <a:rPr lang="hr-HR" dirty="0">
                <a:solidFill>
                  <a:schemeClr val="bg1"/>
                </a:solidFill>
              </a:rPr>
              <a:t>	       [🎨 </a:t>
            </a:r>
            <a:r>
              <a:rPr lang="hr-HR" dirty="0" err="1">
                <a:solidFill>
                  <a:schemeClr val="bg1"/>
                </a:solidFill>
              </a:rPr>
              <a:t>Color</a:t>
            </a:r>
            <a:r>
              <a:rPr lang="hr-HR" dirty="0">
                <a:solidFill>
                  <a:schemeClr val="bg1"/>
                </a:solidFill>
              </a:rPr>
              <a:t>] [🏷️ Brand]   [🔥 </a:t>
            </a:r>
            <a:r>
              <a:rPr lang="hr-HR" dirty="0" err="1">
                <a:solidFill>
                  <a:schemeClr val="bg1"/>
                </a:solidFill>
              </a:rPr>
              <a:t>Trending</a:t>
            </a:r>
            <a:r>
              <a:rPr lang="hr-HR" dirty="0">
                <a:solidFill>
                  <a:schemeClr val="bg1"/>
                </a:solidFill>
              </a:rPr>
              <a:t>]</a:t>
            </a:r>
          </a:p>
          <a:p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B9FE4D-C6A4-4D43-0FF4-9F8793BE545C}"/>
              </a:ext>
            </a:extLst>
          </p:cNvPr>
          <p:cNvSpPr/>
          <p:nvPr/>
        </p:nvSpPr>
        <p:spPr>
          <a:xfrm>
            <a:off x="1570382" y="1837910"/>
            <a:ext cx="6788426" cy="1063487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85834A-C885-7271-90EB-377DC0CCDE6C}"/>
              </a:ext>
            </a:extLst>
          </p:cNvPr>
          <p:cNvSpPr/>
          <p:nvPr/>
        </p:nvSpPr>
        <p:spPr>
          <a:xfrm>
            <a:off x="1570382" y="4078359"/>
            <a:ext cx="6788426" cy="181886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4891A5DC-7A44-C33D-CB8E-7ABD46CF91E1}"/>
              </a:ext>
            </a:extLst>
          </p:cNvPr>
          <p:cNvSpPr/>
          <p:nvPr/>
        </p:nvSpPr>
        <p:spPr>
          <a:xfrm>
            <a:off x="4224131" y="3550755"/>
            <a:ext cx="427382" cy="527604"/>
          </a:xfrm>
          <a:prstGeom prst="downArrow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36C420-06CD-BD34-70C3-DF7B94D233BD}"/>
              </a:ext>
            </a:extLst>
          </p:cNvPr>
          <p:cNvSpPr/>
          <p:nvPr/>
        </p:nvSpPr>
        <p:spPr>
          <a:xfrm>
            <a:off x="1063487" y="1331843"/>
            <a:ext cx="7802217" cy="2218912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45458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52441-0C66-8D72-66FC-F3C47F3C8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587B72E3-15C9-B26D-2A6C-FCD48B29B1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B23105-01D3-6BBD-6E5B-02DD2C4479E6}"/>
              </a:ext>
            </a:extLst>
          </p:cNvPr>
          <p:cNvSpPr txBox="1"/>
          <p:nvPr/>
        </p:nvSpPr>
        <p:spPr>
          <a:xfrm>
            <a:off x="3279914" y="327991"/>
            <a:ext cx="4366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LEARNING PANEL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4E7573-31F6-A455-205B-2254CE10A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01818"/>
              </p:ext>
            </p:extLst>
          </p:nvPr>
        </p:nvGraphicFramePr>
        <p:xfrm>
          <a:off x="1967948" y="1679714"/>
          <a:ext cx="8092661" cy="425593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711170">
                  <a:extLst>
                    <a:ext uri="{9D8B030D-6E8A-4147-A177-3AD203B41FA5}">
                      <a16:colId xmlns:a16="http://schemas.microsoft.com/office/drawing/2014/main" val="1530176731"/>
                    </a:ext>
                  </a:extLst>
                </a:gridCol>
                <a:gridCol w="4381491">
                  <a:extLst>
                    <a:ext uri="{9D8B030D-6E8A-4147-A177-3AD203B41FA5}">
                      <a16:colId xmlns:a16="http://schemas.microsoft.com/office/drawing/2014/main" val="3809718442"/>
                    </a:ext>
                  </a:extLst>
                </a:gridCol>
              </a:tblGrid>
              <a:tr h="506895">
                <a:tc gridSpan="2">
                  <a:txBody>
                    <a:bodyPr/>
                    <a:lstStyle/>
                    <a:p>
                      <a:r>
                        <a:rPr lang="hr-HR" dirty="0">
                          <a:solidFill>
                            <a:schemeClr val="bg1"/>
                          </a:solidFill>
                        </a:rPr>
                        <a:t>		    </a:t>
                      </a:r>
                      <a:r>
                        <a:rPr lang="hr-HR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WHAT AGENT HAS LEARNED?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499954"/>
                  </a:ext>
                </a:extLst>
              </a:tr>
              <a:tr h="28902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LOVE</a:t>
                      </a:r>
                      <a:r>
                        <a:rPr lang="hr-H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algn="ctr"/>
                      <a:endParaRPr lang="hr-HR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💰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Good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prices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(12)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🧵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Quality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materials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(9)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✨ 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styles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(7)</a:t>
                      </a:r>
                    </a:p>
                    <a:p>
                      <a:pPr algn="ctr"/>
                      <a:endParaRPr lang="hr-HR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🎨 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Favorite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colors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    Black,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Navy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White </a:t>
                      </a:r>
                    </a:p>
                    <a:p>
                      <a:pPr algn="ctr"/>
                      <a:endParaRPr lang="hr-HR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💵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Preferred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$120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DISLIKE:</a:t>
                      </a:r>
                    </a:p>
                    <a:p>
                      <a:pPr algn="ctr"/>
                      <a:endParaRPr lang="hr-HR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💸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expensive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(8)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👎 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Bad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materials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(5)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🎨 </a:t>
                      </a:r>
                      <a:r>
                        <a:rPr lang="hr-HR" sz="18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Ugly</a:t>
                      </a:r>
                      <a:r>
                        <a:rPr lang="hr-H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r-HR" sz="18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colors</a:t>
                      </a:r>
                      <a:r>
                        <a:rPr lang="hr-HR" sz="18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(3)</a:t>
                      </a:r>
                    </a:p>
                    <a:p>
                      <a:pPr algn="ctr"/>
                      <a:endParaRPr lang="hr-HR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🚫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Avoid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colors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Yellow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Pink</a:t>
                      </a:r>
                    </a:p>
                    <a:p>
                      <a:pPr algn="ctr"/>
                      <a:endParaRPr lang="hr-HR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Avoid</a:t>
                      </a:r>
                      <a:r>
                        <a:rPr lang="hr-HR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hr-HR" sz="1800" b="0" kern="1200" dirty="0" err="1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Polyester</a:t>
                      </a:r>
                      <a:endParaRPr lang="hr-HR" sz="18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hr-H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530426"/>
                  </a:ext>
                </a:extLst>
              </a:tr>
              <a:tr h="6230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dirty="0"/>
                        <a:t>  	    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📈 </a:t>
                      </a:r>
                      <a:r>
                        <a:rPr lang="en-US" sz="18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 Priority: Showing affordable items first</a:t>
                      </a:r>
                    </a:p>
                    <a:p>
                      <a:endParaRPr lang="hr-H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r-H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592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9968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9A866-8E7E-6B34-5EFA-3E2A1A77E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CDB129A6-9740-88E6-E32A-62AA3815C2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6D0DC0-FA2F-E7A7-201A-4752FC43CD91}"/>
              </a:ext>
            </a:extLst>
          </p:cNvPr>
          <p:cNvSpPr txBox="1"/>
          <p:nvPr/>
        </p:nvSpPr>
        <p:spPr>
          <a:xfrm>
            <a:off x="2763078" y="337931"/>
            <a:ext cx="6098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BACKGROUND WORKERS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3091CB-E12C-3435-42FD-E8013CA1C1CA}"/>
              </a:ext>
            </a:extLst>
          </p:cNvPr>
          <p:cNvSpPr txBox="1"/>
          <p:nvPr/>
        </p:nvSpPr>
        <p:spPr>
          <a:xfrm>
            <a:off x="248855" y="1322183"/>
            <a:ext cx="71959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                           SCORING BACKGROUND WORKER</a:t>
            </a:r>
          </a:p>
          <a:p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          Interval: </a:t>
            </a:r>
            <a:r>
              <a:rPr lang="hr-HR" dirty="0" err="1">
                <a:solidFill>
                  <a:schemeClr val="bg1"/>
                </a:solidFill>
              </a:rPr>
              <a:t>Every</a:t>
            </a:r>
            <a:r>
              <a:rPr lang="hr-HR" dirty="0">
                <a:solidFill>
                  <a:schemeClr val="bg1"/>
                </a:solidFill>
              </a:rPr>
              <a:t> 5 </a:t>
            </a:r>
            <a:r>
              <a:rPr lang="hr-HR" dirty="0" err="1">
                <a:solidFill>
                  <a:schemeClr val="bg1"/>
                </a:solidFill>
              </a:rPr>
              <a:t>seconds</a:t>
            </a:r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          </a:t>
            </a:r>
            <a:r>
              <a:rPr lang="en-US" dirty="0">
                <a:solidFill>
                  <a:schemeClr val="bg1"/>
                </a:solidFill>
              </a:rPr>
              <a:t>Task: Process queued items through M</a:t>
            </a:r>
            <a:r>
              <a:rPr lang="hr-HR" dirty="0">
                <a:solidFill>
                  <a:schemeClr val="bg1"/>
                </a:solidFill>
              </a:rPr>
              <a:t>L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          </a:t>
            </a:r>
            <a:r>
              <a:rPr lang="hr-HR" dirty="0" err="1">
                <a:solidFill>
                  <a:schemeClr val="bg1"/>
                </a:solidFill>
              </a:rPr>
              <a:t>while</a:t>
            </a:r>
            <a:r>
              <a:rPr lang="hr-HR" dirty="0">
                <a:solidFill>
                  <a:schemeClr val="bg1"/>
                </a:solidFill>
              </a:rPr>
              <a:t> (!</a:t>
            </a:r>
            <a:r>
              <a:rPr lang="hr-HR" dirty="0" err="1">
                <a:solidFill>
                  <a:schemeClr val="bg1"/>
                </a:solidFill>
              </a:rPr>
              <a:t>cancellationToken.IsCancellationRequested</a:t>
            </a:r>
            <a:r>
              <a:rPr lang="hr-HR" dirty="0">
                <a:solidFill>
                  <a:schemeClr val="bg1"/>
                </a:solidFill>
              </a:rPr>
              <a:t>)</a:t>
            </a:r>
          </a:p>
          <a:p>
            <a:r>
              <a:rPr lang="hr-HR" dirty="0">
                <a:solidFill>
                  <a:schemeClr val="bg1"/>
                </a:solidFill>
              </a:rPr>
              <a:t>          {</a:t>
            </a:r>
          </a:p>
          <a:p>
            <a:r>
              <a:rPr lang="hr-HR" dirty="0">
                <a:solidFill>
                  <a:schemeClr val="bg1"/>
                </a:solidFill>
              </a:rPr>
              <a:t>	  var </a:t>
            </a:r>
            <a:r>
              <a:rPr lang="hr-HR" dirty="0" err="1">
                <a:solidFill>
                  <a:schemeClr val="bg1"/>
                </a:solidFill>
              </a:rPr>
              <a:t>result</a:t>
            </a:r>
            <a:r>
              <a:rPr lang="hr-HR" dirty="0">
                <a:solidFill>
                  <a:schemeClr val="bg1"/>
                </a:solidFill>
              </a:rPr>
              <a:t> = </a:t>
            </a:r>
            <a:r>
              <a:rPr lang="hr-HR" dirty="0" err="1">
                <a:solidFill>
                  <a:schemeClr val="bg1"/>
                </a:solidFill>
              </a:rPr>
              <a:t>await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runner.StepAsync</a:t>
            </a:r>
            <a:r>
              <a:rPr lang="hr-HR" dirty="0">
                <a:solidFill>
                  <a:schemeClr val="bg1"/>
                </a:solidFill>
              </a:rPr>
              <a:t>();</a:t>
            </a:r>
          </a:p>
          <a:p>
            <a:r>
              <a:rPr lang="hr-HR" dirty="0">
                <a:solidFill>
                  <a:schemeClr val="bg1"/>
                </a:solidFill>
              </a:rPr>
              <a:t>	  </a:t>
            </a:r>
            <a:r>
              <a:rPr lang="en-US" dirty="0">
                <a:solidFill>
                  <a:schemeClr val="bg1"/>
                </a:solidFill>
              </a:rPr>
              <a:t>await </a:t>
            </a:r>
            <a:r>
              <a:rPr lang="en-US" dirty="0" err="1">
                <a:solidFill>
                  <a:schemeClr val="bg1"/>
                </a:solidFill>
              </a:rPr>
              <a:t>Task.Delay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TimeSpan.FromSeconds</a:t>
            </a:r>
            <a:r>
              <a:rPr lang="en-US" dirty="0">
                <a:solidFill>
                  <a:schemeClr val="bg1"/>
                </a:solidFill>
              </a:rPr>
              <a:t>(5));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          }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3E3158-BCCE-72C3-119D-650651308C75}"/>
              </a:ext>
            </a:extLst>
          </p:cNvPr>
          <p:cNvSpPr txBox="1"/>
          <p:nvPr/>
        </p:nvSpPr>
        <p:spPr>
          <a:xfrm>
            <a:off x="6046671" y="4461504"/>
            <a:ext cx="515878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	RETRAIN BACKGROUND WORKER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Interval: </a:t>
            </a:r>
            <a:r>
              <a:rPr lang="hr-HR" dirty="0" err="1">
                <a:solidFill>
                  <a:schemeClr val="bg1"/>
                </a:solidFill>
              </a:rPr>
              <a:t>Every</a:t>
            </a:r>
            <a:r>
              <a:rPr lang="hr-HR" dirty="0">
                <a:solidFill>
                  <a:schemeClr val="bg1"/>
                </a:solidFill>
              </a:rPr>
              <a:t> 5 </a:t>
            </a:r>
            <a:r>
              <a:rPr lang="hr-HR" dirty="0" err="1">
                <a:solidFill>
                  <a:schemeClr val="bg1"/>
                </a:solidFill>
              </a:rPr>
              <a:t>minutes</a:t>
            </a:r>
            <a:endParaRPr lang="hr-HR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Task: Check if retrain needed, train new model</a:t>
            </a:r>
          </a:p>
          <a:p>
            <a:r>
              <a:rPr lang="en-US" dirty="0">
                <a:solidFill>
                  <a:schemeClr val="bg1"/>
                </a:solidFill>
              </a:rPr>
              <a:t>Trigger: 50+ new feedback items</a:t>
            </a:r>
          </a:p>
          <a:p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07F2B-4A7F-C10C-6DEA-3F926A74827C}"/>
              </a:ext>
            </a:extLst>
          </p:cNvPr>
          <p:cNvSpPr/>
          <p:nvPr/>
        </p:nvSpPr>
        <p:spPr>
          <a:xfrm>
            <a:off x="248855" y="1103243"/>
            <a:ext cx="6579328" cy="3358261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40D538-965A-B9AB-7E83-50F7649D5AED}"/>
              </a:ext>
            </a:extLst>
          </p:cNvPr>
          <p:cNvSpPr/>
          <p:nvPr/>
        </p:nvSpPr>
        <p:spPr>
          <a:xfrm>
            <a:off x="5257800" y="4194313"/>
            <a:ext cx="6579328" cy="2325756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99457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65862-874F-FADA-A695-7D117A2C9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9A55754D-F97E-9092-8B93-9B23116519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051B10-1D1C-E135-2B56-8BD8506647D1}"/>
              </a:ext>
            </a:extLst>
          </p:cNvPr>
          <p:cNvSpPr txBox="1"/>
          <p:nvPr/>
        </p:nvSpPr>
        <p:spPr>
          <a:xfrm>
            <a:off x="3995530" y="327992"/>
            <a:ext cx="3130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DEMO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929DE-8D7A-D8DB-7858-77408B0C0012}"/>
              </a:ext>
            </a:extLst>
          </p:cNvPr>
          <p:cNvSpPr txBox="1"/>
          <p:nvPr/>
        </p:nvSpPr>
        <p:spPr>
          <a:xfrm>
            <a:off x="3552665" y="1225689"/>
            <a:ext cx="5086649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r-HR" dirty="0">
                <a:solidFill>
                  <a:schemeClr val="bg1"/>
                </a:solidFill>
              </a:rPr>
              <a:t>Pokretanje aplikacije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hr-HR" dirty="0">
                <a:solidFill>
                  <a:schemeClr val="bg1"/>
                </a:solidFill>
              </a:rPr>
              <a:t>Auto-</a:t>
            </a:r>
            <a:r>
              <a:rPr lang="hr-HR" dirty="0" err="1">
                <a:solidFill>
                  <a:schemeClr val="bg1"/>
                </a:solidFill>
              </a:rPr>
              <a:t>seeding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dataseta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hr-HR" dirty="0">
                <a:solidFill>
                  <a:schemeClr val="bg1"/>
                </a:solidFill>
              </a:rPr>
              <a:t>Inicijalno treniranje ML modela</a:t>
            </a:r>
          </a:p>
          <a:p>
            <a:pPr marL="342900" indent="-342900">
              <a:buFont typeface="+mj-lt"/>
              <a:buAutoNum type="arabicPeriod"/>
            </a:pPr>
            <a:endParaRPr lang="hr-HR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hr-HR" dirty="0">
                <a:solidFill>
                  <a:schemeClr val="bg1"/>
                </a:solidFill>
              </a:rPr>
              <a:t>Pretraživanje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hr-HR" dirty="0">
                <a:solidFill>
                  <a:schemeClr val="bg1"/>
                </a:solidFill>
              </a:rPr>
              <a:t>Odabir filtera (</a:t>
            </a:r>
            <a:r>
              <a:rPr lang="hr-HR" dirty="0" err="1">
                <a:solidFill>
                  <a:schemeClr val="bg1"/>
                </a:solidFill>
              </a:rPr>
              <a:t>gender</a:t>
            </a:r>
            <a:r>
              <a:rPr lang="hr-HR" dirty="0">
                <a:solidFill>
                  <a:schemeClr val="bg1"/>
                </a:solidFill>
              </a:rPr>
              <a:t>, </a:t>
            </a:r>
            <a:r>
              <a:rPr lang="hr-HR" dirty="0" err="1">
                <a:solidFill>
                  <a:schemeClr val="bg1"/>
                </a:solidFill>
              </a:rPr>
              <a:t>category</a:t>
            </a:r>
            <a:r>
              <a:rPr lang="hr-HR" dirty="0">
                <a:solidFill>
                  <a:schemeClr val="bg1"/>
                </a:solidFill>
              </a:rPr>
              <a:t>, </a:t>
            </a:r>
            <a:r>
              <a:rPr lang="hr-HR" dirty="0" err="1">
                <a:solidFill>
                  <a:schemeClr val="bg1"/>
                </a:solidFill>
              </a:rPr>
              <a:t>color</a:t>
            </a:r>
            <a:r>
              <a:rPr lang="hr-HR" dirty="0">
                <a:solidFill>
                  <a:schemeClr val="bg1"/>
                </a:solidFill>
              </a:rPr>
              <a:t>...)</a:t>
            </a:r>
            <a:b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it-IT" dirty="0" err="1">
                <a:solidFill>
                  <a:schemeClr val="bg1"/>
                </a:solidFill>
              </a:rPr>
              <a:t>Prikaz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rezultata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soriranih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po</a:t>
            </a:r>
            <a:r>
              <a:rPr lang="it-IT" dirty="0">
                <a:solidFill>
                  <a:schemeClr val="bg1"/>
                </a:solidFill>
              </a:rPr>
              <a:t> score-u</a:t>
            </a:r>
          </a:p>
          <a:p>
            <a:pPr marL="342900" indent="-342900">
              <a:buFont typeface="+mj-lt"/>
              <a:buAutoNum type="arabicPeriod"/>
            </a:pPr>
            <a:endParaRPr lang="hr-HR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hr-HR" dirty="0">
                <a:solidFill>
                  <a:schemeClr val="bg1"/>
                </a:solidFill>
              </a:rPr>
              <a:t>Davanje </a:t>
            </a:r>
            <a:r>
              <a:rPr lang="hr-HR" dirty="0" err="1">
                <a:solidFill>
                  <a:schemeClr val="bg1"/>
                </a:solidFill>
              </a:rPr>
              <a:t>feedbacka</a:t>
            </a:r>
            <a:r>
              <a:rPr lang="hr-HR" dirty="0">
                <a:solidFill>
                  <a:schemeClr val="bg1"/>
                </a:solidFill>
              </a:rPr>
              <a:t> 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hr-HR" dirty="0">
                <a:solidFill>
                  <a:schemeClr val="bg1"/>
                </a:solidFill>
              </a:rPr>
              <a:t>Like/</a:t>
            </a:r>
            <a:r>
              <a:rPr lang="hr-HR" dirty="0" err="1">
                <a:solidFill>
                  <a:schemeClr val="bg1"/>
                </a:solidFill>
              </a:rPr>
              <a:t>Dislike</a:t>
            </a:r>
            <a:r>
              <a:rPr lang="hr-HR" dirty="0">
                <a:solidFill>
                  <a:schemeClr val="bg1"/>
                </a:solidFill>
              </a:rPr>
              <a:t> sa razlogom</a:t>
            </a:r>
            <a:b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hr-HR" dirty="0">
                <a:solidFill>
                  <a:schemeClr val="bg1"/>
                </a:solidFill>
              </a:rPr>
              <a:t>Real-time ažuriranje </a:t>
            </a:r>
            <a:r>
              <a:rPr lang="hr-HR" dirty="0" err="1">
                <a:solidFill>
                  <a:schemeClr val="bg1"/>
                </a:solidFill>
              </a:rPr>
              <a:t>Learning</a:t>
            </a:r>
            <a:r>
              <a:rPr lang="hr-HR" dirty="0">
                <a:solidFill>
                  <a:schemeClr val="bg1"/>
                </a:solidFill>
              </a:rPr>
              <a:t> panela</a:t>
            </a:r>
          </a:p>
          <a:p>
            <a:pPr marL="342900" indent="-342900">
              <a:buFont typeface="+mj-lt"/>
              <a:buAutoNum type="arabicPeriod"/>
            </a:pPr>
            <a:endParaRPr lang="hr-HR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hr-HR" dirty="0">
                <a:solidFill>
                  <a:schemeClr val="bg1"/>
                </a:solidFill>
              </a:rPr>
              <a:t>Promatranje učenja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hr-HR" dirty="0">
                <a:solidFill>
                  <a:schemeClr val="bg1"/>
                </a:solidFill>
              </a:rPr>
              <a:t>Promjena preporučenih artikala</a:t>
            </a:r>
            <a:b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hr-HR" dirty="0">
                <a:solidFill>
                  <a:schemeClr val="bg1"/>
                </a:solidFill>
              </a:rPr>
              <a:t>Prikaz naučenih preferencija</a:t>
            </a:r>
          </a:p>
          <a:p>
            <a:pPr marL="342900" indent="-342900">
              <a:buFont typeface="+mj-lt"/>
              <a:buAutoNum type="arabicPeriod"/>
            </a:pPr>
            <a:endParaRPr lang="hr-HR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hr-HR" dirty="0" err="1">
                <a:solidFill>
                  <a:schemeClr val="bg1"/>
                </a:solidFill>
              </a:rPr>
              <a:t>Console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logging</a:t>
            </a:r>
            <a:r>
              <a:rPr lang="hr-HR" dirty="0">
                <a:solidFill>
                  <a:schemeClr val="bg1"/>
                </a:solidFill>
              </a:rPr>
              <a:t> 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hr-HR" dirty="0" err="1">
                <a:solidFill>
                  <a:schemeClr val="bg1"/>
                </a:solidFill>
              </a:rPr>
              <a:t>Background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worker</a:t>
            </a:r>
            <a:r>
              <a:rPr lang="hr-HR" dirty="0">
                <a:solidFill>
                  <a:schemeClr val="bg1"/>
                </a:solidFill>
              </a:rPr>
              <a:t> logovi</a:t>
            </a:r>
            <a:b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hr-HR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hr-HR" dirty="0">
                <a:solidFill>
                  <a:schemeClr val="bg1"/>
                </a:solidFill>
              </a:rPr>
              <a:t>Predikcije i odluke agenta</a:t>
            </a:r>
          </a:p>
          <a:p>
            <a:pPr marL="342900" indent="-342900">
              <a:buFont typeface="+mj-lt"/>
              <a:buAutoNum type="arabicPeriod"/>
            </a:pPr>
            <a:endParaRPr lang="hr-HR" dirty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68771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73827-D2BF-B09E-D98C-E00BA79A3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AAC400B8-815E-8F28-B73E-B9C977B9D8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1924A8-5FEB-0B10-CC6E-45A8F4EC9A52}"/>
              </a:ext>
            </a:extLst>
          </p:cNvPr>
          <p:cNvSpPr txBox="1"/>
          <p:nvPr/>
        </p:nvSpPr>
        <p:spPr>
          <a:xfrm>
            <a:off x="3796747" y="308113"/>
            <a:ext cx="3647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FUTURE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9E09B2-F3A0-9451-9EA2-D1FD5F694EBF}"/>
              </a:ext>
            </a:extLst>
          </p:cNvPr>
          <p:cNvSpPr txBox="1"/>
          <p:nvPr/>
        </p:nvSpPr>
        <p:spPr>
          <a:xfrm>
            <a:off x="844826" y="1292087"/>
            <a:ext cx="6466835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KRATKOROČNO ( v2.0 ):</a:t>
            </a:r>
            <a:br>
              <a:rPr lang="hr-HR" dirty="0">
                <a:solidFill>
                  <a:schemeClr val="bg1"/>
                </a:solidFill>
              </a:rPr>
            </a:b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	• Multi-</a:t>
            </a:r>
            <a:r>
              <a:rPr lang="hr-HR" dirty="0" err="1">
                <a:solidFill>
                  <a:schemeClr val="bg1"/>
                </a:solidFill>
              </a:rPr>
              <a:t>user</a:t>
            </a:r>
            <a:r>
              <a:rPr lang="hr-HR" dirty="0">
                <a:solidFill>
                  <a:schemeClr val="bg1"/>
                </a:solidFill>
              </a:rPr>
              <a:t> podrška (personalizirane preferencije)</a:t>
            </a:r>
          </a:p>
          <a:p>
            <a:r>
              <a:rPr lang="hr-HR" dirty="0">
                <a:solidFill>
                  <a:schemeClr val="bg1"/>
                </a:solidFill>
              </a:rPr>
              <a:t>	• A/B </a:t>
            </a:r>
            <a:r>
              <a:rPr lang="hr-HR" dirty="0" err="1">
                <a:solidFill>
                  <a:schemeClr val="bg1"/>
                </a:solidFill>
              </a:rPr>
              <a:t>testing</a:t>
            </a:r>
            <a:r>
              <a:rPr lang="hr-HR" dirty="0">
                <a:solidFill>
                  <a:schemeClr val="bg1"/>
                </a:solidFill>
              </a:rPr>
              <a:t> modela   </a:t>
            </a:r>
          </a:p>
          <a:p>
            <a:r>
              <a:rPr lang="hr-HR" dirty="0">
                <a:solidFill>
                  <a:schemeClr val="bg1"/>
                </a:solidFill>
              </a:rPr>
              <a:t>	• </a:t>
            </a:r>
            <a:r>
              <a:rPr lang="hr-HR" dirty="0" err="1">
                <a:solidFill>
                  <a:schemeClr val="bg1"/>
                </a:solidFill>
              </a:rPr>
              <a:t>Explainable</a:t>
            </a:r>
            <a:r>
              <a:rPr lang="hr-HR" dirty="0">
                <a:solidFill>
                  <a:schemeClr val="bg1"/>
                </a:solidFill>
              </a:rPr>
              <a:t> AI (zašto je preporučeno?)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SREDNJOROČNO ( v3.0 ):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	• </a:t>
            </a:r>
            <a:r>
              <a:rPr lang="hr-HR" dirty="0" err="1">
                <a:solidFill>
                  <a:schemeClr val="bg1"/>
                </a:solidFill>
              </a:rPr>
              <a:t>Image-based</a:t>
            </a:r>
            <a:r>
              <a:rPr lang="hr-HR" dirty="0">
                <a:solidFill>
                  <a:schemeClr val="bg1"/>
                </a:solidFill>
              </a:rPr>
              <a:t> klasifikacija (CNN)</a:t>
            </a:r>
          </a:p>
          <a:p>
            <a:r>
              <a:rPr lang="hr-HR" dirty="0">
                <a:solidFill>
                  <a:schemeClr val="bg1"/>
                </a:solidFill>
              </a:rPr>
              <a:t>	</a:t>
            </a:r>
            <a:r>
              <a:rPr lang="en-US" dirty="0">
                <a:solidFill>
                  <a:schemeClr val="bg1"/>
                </a:solidFill>
              </a:rPr>
              <a:t>• Real-time trend detection (social media)</a:t>
            </a:r>
          </a:p>
          <a:p>
            <a:r>
              <a:rPr lang="hr-HR" dirty="0">
                <a:solidFill>
                  <a:schemeClr val="bg1"/>
                </a:solidFill>
              </a:rPr>
              <a:t>	• </a:t>
            </a:r>
            <a:r>
              <a:rPr lang="hr-HR" dirty="0" err="1">
                <a:solidFill>
                  <a:schemeClr val="bg1"/>
                </a:solidFill>
              </a:rPr>
              <a:t>Collaborative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filtering</a:t>
            </a:r>
            <a:endParaRPr lang="hr-HR" dirty="0">
              <a:solidFill>
                <a:schemeClr val="bg1"/>
              </a:solidFill>
            </a:endParaRP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DUGOROČNO ( v4.0+ ):</a:t>
            </a:r>
          </a:p>
          <a:p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	• Multi-modal agent </a:t>
            </a:r>
            <a:r>
              <a:rPr lang="hr-HR" dirty="0" err="1">
                <a:solidFill>
                  <a:schemeClr val="bg1"/>
                </a:solidFill>
              </a:rPr>
              <a:t>ensemble</a:t>
            </a:r>
            <a:endParaRPr lang="hr-HR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	• Natural </a:t>
            </a:r>
            <a:r>
              <a:rPr lang="hr-HR" dirty="0" err="1">
                <a:solidFill>
                  <a:schemeClr val="bg1"/>
                </a:solidFill>
              </a:rPr>
              <a:t>language</a:t>
            </a:r>
            <a:r>
              <a:rPr lang="hr-HR" dirty="0">
                <a:solidFill>
                  <a:schemeClr val="bg1"/>
                </a:solidFill>
              </a:rPr>
              <a:t> interface (</a:t>
            </a:r>
            <a:r>
              <a:rPr lang="hr-HR" dirty="0" err="1">
                <a:solidFill>
                  <a:schemeClr val="bg1"/>
                </a:solidFill>
              </a:rPr>
              <a:t>chatbot</a:t>
            </a:r>
            <a:r>
              <a:rPr lang="hr-HR" dirty="0">
                <a:solidFill>
                  <a:schemeClr val="bg1"/>
                </a:solidFill>
              </a:rPr>
              <a:t>)</a:t>
            </a:r>
          </a:p>
          <a:p>
            <a:r>
              <a:rPr lang="hr-HR" dirty="0">
                <a:solidFill>
                  <a:schemeClr val="bg1"/>
                </a:solidFill>
              </a:rPr>
              <a:t>	• </a:t>
            </a:r>
            <a:r>
              <a:rPr lang="hr-HR" dirty="0" err="1">
                <a:solidFill>
                  <a:schemeClr val="bg1"/>
                </a:solidFill>
              </a:rPr>
              <a:t>Supply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chain</a:t>
            </a:r>
            <a:r>
              <a:rPr lang="hr-HR" dirty="0">
                <a:solidFill>
                  <a:schemeClr val="bg1"/>
                </a:solidFill>
              </a:rPr>
              <a:t> </a:t>
            </a:r>
            <a:r>
              <a:rPr lang="hr-HR" dirty="0" err="1">
                <a:solidFill>
                  <a:schemeClr val="bg1"/>
                </a:solidFill>
              </a:rPr>
              <a:t>integration</a:t>
            </a:r>
            <a:endParaRPr lang="hr-HR" dirty="0">
              <a:solidFill>
                <a:schemeClr val="bg1"/>
              </a:solidFill>
            </a:endParaRPr>
          </a:p>
          <a:p>
            <a:endParaRPr lang="hr-HR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B73A21-947A-8000-044E-DAC6DC80B9B8}"/>
              </a:ext>
            </a:extLst>
          </p:cNvPr>
          <p:cNvSpPr/>
          <p:nvPr/>
        </p:nvSpPr>
        <p:spPr>
          <a:xfrm>
            <a:off x="1520687" y="1769165"/>
            <a:ext cx="6003235" cy="1083365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846E3F-521C-03F4-482B-4317CBB3A679}"/>
              </a:ext>
            </a:extLst>
          </p:cNvPr>
          <p:cNvSpPr/>
          <p:nvPr/>
        </p:nvSpPr>
        <p:spPr>
          <a:xfrm>
            <a:off x="1520686" y="3429000"/>
            <a:ext cx="6003235" cy="1083365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D45B8A-4F18-8CA1-68A6-3C5C2A30D7C5}"/>
              </a:ext>
            </a:extLst>
          </p:cNvPr>
          <p:cNvSpPr/>
          <p:nvPr/>
        </p:nvSpPr>
        <p:spPr>
          <a:xfrm>
            <a:off x="1520686" y="5088835"/>
            <a:ext cx="6003235" cy="1083365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80273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F2FCE-1208-4C9D-9967-D0CAB7D4D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B08F2570-B62A-B07B-93FE-79EE3F93DE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7179A9-1468-3224-EF85-13AD98004EAE}"/>
              </a:ext>
            </a:extLst>
          </p:cNvPr>
          <p:cNvSpPr txBox="1"/>
          <p:nvPr/>
        </p:nvSpPr>
        <p:spPr>
          <a:xfrm>
            <a:off x="3200399" y="278296"/>
            <a:ext cx="4900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KLJUČNI DOPRINOSI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AA2FBB-AB0A-F626-A9E4-94239A49BEA3}"/>
              </a:ext>
            </a:extLst>
          </p:cNvPr>
          <p:cNvSpPr/>
          <p:nvPr/>
        </p:nvSpPr>
        <p:spPr>
          <a:xfrm>
            <a:off x="1118151" y="1517589"/>
            <a:ext cx="4164495" cy="1461052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2F6387-7DA7-479C-0A9A-E4B6EA8C5C41}"/>
              </a:ext>
            </a:extLst>
          </p:cNvPr>
          <p:cNvSpPr/>
          <p:nvPr/>
        </p:nvSpPr>
        <p:spPr>
          <a:xfrm>
            <a:off x="1192696" y="3571604"/>
            <a:ext cx="4164495" cy="1461052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84182D-23D1-0749-F8C7-CDCB29D47583}"/>
              </a:ext>
            </a:extLst>
          </p:cNvPr>
          <p:cNvSpPr/>
          <p:nvPr/>
        </p:nvSpPr>
        <p:spPr>
          <a:xfrm>
            <a:off x="6095990" y="1517589"/>
            <a:ext cx="4164495" cy="1461052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CCF7EE-3199-2730-A701-8F85F993DF11}"/>
              </a:ext>
            </a:extLst>
          </p:cNvPr>
          <p:cNvSpPr/>
          <p:nvPr/>
        </p:nvSpPr>
        <p:spPr>
          <a:xfrm>
            <a:off x="6095989" y="3571603"/>
            <a:ext cx="4164495" cy="1461052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96237B-1772-48F6-1CE3-E317F8DEE456}"/>
              </a:ext>
            </a:extLst>
          </p:cNvPr>
          <p:cNvSpPr txBox="1"/>
          <p:nvPr/>
        </p:nvSpPr>
        <p:spPr>
          <a:xfrm>
            <a:off x="1171637" y="1903607"/>
            <a:ext cx="405752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hr-HR" sz="1600" dirty="0">
                <a:solidFill>
                  <a:schemeClr val="bg1"/>
                </a:solidFill>
              </a:rPr>
              <a:t>GENERIČKA AGENT ARHITEKTURA</a:t>
            </a:r>
          </a:p>
          <a:p>
            <a:r>
              <a:rPr lang="hr-HR" sz="1600" dirty="0">
                <a:solidFill>
                  <a:schemeClr val="bg1"/>
                </a:solidFill>
              </a:rPr>
              <a:t>	</a:t>
            </a:r>
            <a:r>
              <a:rPr lang="hr-HR" sz="1400" dirty="0">
                <a:solidFill>
                  <a:schemeClr val="bg1"/>
                </a:solidFill>
              </a:rPr>
              <a:t>• </a:t>
            </a:r>
            <a:r>
              <a:rPr lang="hr-HR" sz="1400" dirty="0" err="1">
                <a:solidFill>
                  <a:schemeClr val="bg1"/>
                </a:solidFill>
              </a:rPr>
              <a:t>Reusable</a:t>
            </a:r>
            <a:r>
              <a:rPr lang="hr-HR" sz="1400" dirty="0">
                <a:solidFill>
                  <a:schemeClr val="bg1"/>
                </a:solidFill>
              </a:rPr>
              <a:t> </a:t>
            </a:r>
            <a:r>
              <a:rPr lang="hr-HR" sz="1400" dirty="0" err="1">
                <a:solidFill>
                  <a:schemeClr val="bg1"/>
                </a:solidFill>
              </a:rPr>
              <a:t>AiAgents.Core</a:t>
            </a:r>
            <a:r>
              <a:rPr lang="hr-HR" sz="1400" dirty="0">
                <a:solidFill>
                  <a:schemeClr val="bg1"/>
                </a:solidFill>
              </a:rPr>
              <a:t> </a:t>
            </a:r>
            <a:r>
              <a:rPr lang="hr-HR" sz="1400" dirty="0" err="1">
                <a:solidFill>
                  <a:schemeClr val="bg1"/>
                </a:solidFill>
              </a:rPr>
              <a:t>library</a:t>
            </a:r>
            <a:endParaRPr lang="hr-HR" sz="1400" dirty="0">
              <a:solidFill>
                <a:schemeClr val="bg1"/>
              </a:solidFill>
            </a:endParaRPr>
          </a:p>
          <a:p>
            <a:r>
              <a:rPr lang="hr-HR" sz="1400" dirty="0">
                <a:solidFill>
                  <a:schemeClr val="bg1"/>
                </a:solidFill>
              </a:rPr>
              <a:t>	• SOLID principi</a:t>
            </a:r>
          </a:p>
          <a:p>
            <a:endParaRPr lang="hr-HR" sz="16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5DA5B2-659F-1487-A9CC-B72DFF880AA9}"/>
              </a:ext>
            </a:extLst>
          </p:cNvPr>
          <p:cNvSpPr txBox="1"/>
          <p:nvPr/>
        </p:nvSpPr>
        <p:spPr>
          <a:xfrm>
            <a:off x="6166115" y="1903607"/>
            <a:ext cx="3869970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600" dirty="0">
                <a:solidFill>
                  <a:schemeClr val="bg1"/>
                </a:solidFill>
              </a:rPr>
              <a:t>2.   ML INTEGRATION PATTERN</a:t>
            </a:r>
          </a:p>
          <a:p>
            <a:r>
              <a:rPr lang="hr-HR" sz="1600" dirty="0">
                <a:solidFill>
                  <a:schemeClr val="bg1"/>
                </a:solidFill>
              </a:rPr>
              <a:t>	</a:t>
            </a:r>
            <a:r>
              <a:rPr lang="hr-HR" sz="1400" dirty="0">
                <a:solidFill>
                  <a:schemeClr val="bg1"/>
                </a:solidFill>
              </a:rPr>
              <a:t>• Interface-</a:t>
            </a:r>
            <a:r>
              <a:rPr lang="hr-HR" sz="1400" dirty="0" err="1">
                <a:solidFill>
                  <a:schemeClr val="bg1"/>
                </a:solidFill>
              </a:rPr>
              <a:t>based</a:t>
            </a:r>
            <a:r>
              <a:rPr lang="hr-HR" sz="1400" dirty="0">
                <a:solidFill>
                  <a:schemeClr val="bg1"/>
                </a:solidFill>
              </a:rPr>
              <a:t> ML </a:t>
            </a:r>
            <a:r>
              <a:rPr lang="hr-HR" sz="1400" dirty="0" err="1">
                <a:solidFill>
                  <a:schemeClr val="bg1"/>
                </a:solidFill>
              </a:rPr>
              <a:t>klasifikator</a:t>
            </a:r>
            <a:r>
              <a:rPr lang="hr-HR" sz="1400" dirty="0">
                <a:solidFill>
                  <a:schemeClr val="bg1"/>
                </a:solidFill>
              </a:rPr>
              <a:t> </a:t>
            </a:r>
          </a:p>
          <a:p>
            <a:r>
              <a:rPr lang="hr-HR" sz="1400" dirty="0">
                <a:solidFill>
                  <a:schemeClr val="bg1"/>
                </a:solidFill>
              </a:rPr>
              <a:t>	• Lako zamjenjiv algoritam</a:t>
            </a:r>
          </a:p>
          <a:p>
            <a:endParaRPr lang="hr-HR" sz="16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E2427F-7FF6-DE01-0F2E-758DD5058003}"/>
              </a:ext>
            </a:extLst>
          </p:cNvPr>
          <p:cNvSpPr txBox="1"/>
          <p:nvPr/>
        </p:nvSpPr>
        <p:spPr>
          <a:xfrm>
            <a:off x="1401674" y="3865645"/>
            <a:ext cx="374653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 startAt="3"/>
            </a:pPr>
            <a:r>
              <a:rPr lang="hr-HR" sz="1600" dirty="0">
                <a:solidFill>
                  <a:schemeClr val="bg1"/>
                </a:solidFill>
              </a:rPr>
              <a:t>KONITUIRANO UČENJE</a:t>
            </a:r>
          </a:p>
          <a:p>
            <a:r>
              <a:rPr lang="hr-HR" dirty="0">
                <a:solidFill>
                  <a:schemeClr val="bg1"/>
                </a:solidFill>
              </a:rPr>
              <a:t>	</a:t>
            </a:r>
            <a:r>
              <a:rPr lang="hr-HR" sz="1400" dirty="0">
                <a:solidFill>
                  <a:schemeClr val="bg1"/>
                </a:solidFill>
              </a:rPr>
              <a:t>• Real-time </a:t>
            </a:r>
            <a:r>
              <a:rPr lang="hr-HR" sz="1400" dirty="0" err="1">
                <a:solidFill>
                  <a:schemeClr val="bg1"/>
                </a:solidFill>
              </a:rPr>
              <a:t>preference</a:t>
            </a:r>
            <a:r>
              <a:rPr lang="hr-HR" sz="1400" dirty="0">
                <a:solidFill>
                  <a:schemeClr val="bg1"/>
                </a:solidFill>
              </a:rPr>
              <a:t> </a:t>
            </a:r>
            <a:r>
              <a:rPr lang="hr-HR" sz="1400" dirty="0" err="1">
                <a:solidFill>
                  <a:schemeClr val="bg1"/>
                </a:solidFill>
              </a:rPr>
              <a:t>analysis</a:t>
            </a:r>
            <a:r>
              <a:rPr lang="hr-HR" sz="1400" dirty="0">
                <a:solidFill>
                  <a:schemeClr val="bg1"/>
                </a:solidFill>
              </a:rPr>
              <a:t> </a:t>
            </a:r>
          </a:p>
          <a:p>
            <a:r>
              <a:rPr lang="hr-HR" sz="1400" dirty="0">
                <a:solidFill>
                  <a:schemeClr val="bg1"/>
                </a:solidFill>
              </a:rPr>
              <a:t>	• </a:t>
            </a:r>
            <a:r>
              <a:rPr lang="hr-HR" sz="1400" dirty="0" err="1">
                <a:solidFill>
                  <a:schemeClr val="bg1"/>
                </a:solidFill>
              </a:rPr>
              <a:t>Periodic</a:t>
            </a:r>
            <a:r>
              <a:rPr lang="hr-HR" sz="1400" dirty="0">
                <a:solidFill>
                  <a:schemeClr val="bg1"/>
                </a:solidFill>
              </a:rPr>
              <a:t> model </a:t>
            </a:r>
            <a:r>
              <a:rPr lang="hr-HR" sz="1400" dirty="0" err="1">
                <a:solidFill>
                  <a:schemeClr val="bg1"/>
                </a:solidFill>
              </a:rPr>
              <a:t>retraining</a:t>
            </a:r>
            <a:endParaRPr lang="hr-HR" sz="1400" dirty="0">
              <a:solidFill>
                <a:schemeClr val="bg1"/>
              </a:solidFill>
            </a:endParaRPr>
          </a:p>
          <a:p>
            <a:r>
              <a:rPr lang="hr-HR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84DBD2-AC09-7F2C-634A-1CAB9196CD32}"/>
              </a:ext>
            </a:extLst>
          </p:cNvPr>
          <p:cNvSpPr txBox="1"/>
          <p:nvPr/>
        </p:nvSpPr>
        <p:spPr>
          <a:xfrm>
            <a:off x="6131842" y="3778450"/>
            <a:ext cx="409278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Tx/>
              <a:buAutoNum type="arabicPeriod" startAt="4"/>
            </a:pPr>
            <a:r>
              <a:rPr lang="hr-HR" sz="1600" dirty="0">
                <a:solidFill>
                  <a:schemeClr val="bg1"/>
                </a:solidFill>
              </a:rPr>
              <a:t>HUMAN – IN – THE – LOOP </a:t>
            </a:r>
            <a:r>
              <a:rPr lang="hr-HR" dirty="0">
                <a:solidFill>
                  <a:schemeClr val="bg1"/>
                </a:solidFill>
              </a:rPr>
              <a:t>	</a:t>
            </a:r>
            <a:br>
              <a:rPr lang="hr-HR" dirty="0">
                <a:solidFill>
                  <a:schemeClr val="bg1"/>
                </a:solidFill>
              </a:rPr>
            </a:br>
            <a:r>
              <a:rPr lang="hr-HR" dirty="0">
                <a:solidFill>
                  <a:schemeClr val="bg1"/>
                </a:solidFill>
              </a:rPr>
              <a:t>    </a:t>
            </a:r>
            <a:r>
              <a:rPr lang="hr-HR" sz="1400" dirty="0">
                <a:solidFill>
                  <a:schemeClr val="bg1"/>
                </a:solidFill>
              </a:rPr>
              <a:t>• </a:t>
            </a:r>
            <a:r>
              <a:rPr lang="hr-HR" sz="1400" dirty="0" err="1">
                <a:solidFill>
                  <a:schemeClr val="bg1"/>
                </a:solidFill>
              </a:rPr>
              <a:t>Feedback</a:t>
            </a:r>
            <a:r>
              <a:rPr lang="hr-HR" sz="1400" dirty="0">
                <a:solidFill>
                  <a:schemeClr val="bg1"/>
                </a:solidFill>
              </a:rPr>
              <a:t> mehanizam</a:t>
            </a:r>
            <a:br>
              <a:rPr lang="hr-HR" sz="1400" dirty="0">
                <a:solidFill>
                  <a:schemeClr val="bg1"/>
                </a:solidFill>
              </a:rPr>
            </a:br>
            <a:r>
              <a:rPr lang="hr-HR" sz="1400" dirty="0">
                <a:solidFill>
                  <a:schemeClr val="bg1"/>
                </a:solidFill>
              </a:rPr>
              <a:t>     • </a:t>
            </a:r>
            <a:r>
              <a:rPr lang="hr-HR" sz="1400" dirty="0" err="1">
                <a:solidFill>
                  <a:schemeClr val="bg1"/>
                </a:solidFill>
              </a:rPr>
              <a:t>PendingReview</a:t>
            </a:r>
            <a:r>
              <a:rPr lang="hr-HR" sz="1400" dirty="0">
                <a:solidFill>
                  <a:schemeClr val="bg1"/>
                </a:solidFill>
              </a:rPr>
              <a:t> za nesigurne slučajeve</a:t>
            </a:r>
          </a:p>
          <a:p>
            <a:pPr marL="342900" indent="-342900">
              <a:buFontTx/>
              <a:buAutoNum type="arabicPeriod" startAt="4"/>
            </a:pPr>
            <a:endParaRPr lang="hr-HR" dirty="0">
              <a:solidFill>
                <a:schemeClr val="bg1"/>
              </a:solidFill>
            </a:endParaRPr>
          </a:p>
          <a:p>
            <a:pPr marL="342900" indent="-342900">
              <a:buAutoNum type="arabicPeriod" startAt="4"/>
            </a:pPr>
            <a:endParaRPr lang="hr-H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6059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61500-D104-4000-C6D6-9A7A49CAA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A523142D-7FCD-1176-2173-313A95B755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444D8B-76A3-069D-5E85-0EE67B7F8855}"/>
              </a:ext>
            </a:extLst>
          </p:cNvPr>
          <p:cNvSpPr txBox="1"/>
          <p:nvPr/>
        </p:nvSpPr>
        <p:spPr>
          <a:xfrm>
            <a:off x="4015408" y="467139"/>
            <a:ext cx="2969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ZAKLJUČAK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60CAF8-8D25-2891-5CD0-9D470F5D314E}"/>
              </a:ext>
            </a:extLst>
          </p:cNvPr>
          <p:cNvSpPr txBox="1"/>
          <p:nvPr/>
        </p:nvSpPr>
        <p:spPr>
          <a:xfrm>
            <a:off x="2275348" y="1461052"/>
            <a:ext cx="644920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/>
              <a:t>✅ </a:t>
            </a:r>
            <a:r>
              <a:rPr lang="hr-HR" dirty="0">
                <a:solidFill>
                  <a:schemeClr val="bg1"/>
                </a:solidFill>
              </a:rPr>
              <a:t>Implementiran funkcionalan AI agent sa STAL ciklusom</a:t>
            </a:r>
          </a:p>
          <a:p>
            <a:endParaRPr lang="hr-HR" dirty="0"/>
          </a:p>
          <a:p>
            <a:r>
              <a:rPr lang="hr-HR" dirty="0"/>
              <a:t>✅ </a:t>
            </a:r>
            <a:r>
              <a:rPr lang="hr-HR" dirty="0">
                <a:solidFill>
                  <a:schemeClr val="bg1"/>
                </a:solidFill>
              </a:rPr>
              <a:t>ML klasifikacija sa ~80-90% preciznosti</a:t>
            </a:r>
          </a:p>
          <a:p>
            <a:endParaRPr lang="hr-HR" dirty="0"/>
          </a:p>
          <a:p>
            <a:r>
              <a:rPr lang="hr-HR" dirty="0"/>
              <a:t>✅ </a:t>
            </a:r>
            <a:r>
              <a:rPr lang="hr-HR" dirty="0">
                <a:solidFill>
                  <a:schemeClr val="bg1"/>
                </a:solidFill>
              </a:rPr>
              <a:t>Kontinuirano učenje iz korisničkog </a:t>
            </a:r>
            <a:r>
              <a:rPr lang="hr-HR" dirty="0" err="1">
                <a:solidFill>
                  <a:schemeClr val="bg1"/>
                </a:solidFill>
              </a:rPr>
              <a:t>feedbacka</a:t>
            </a:r>
            <a:endParaRPr lang="hr-HR" dirty="0">
              <a:solidFill>
                <a:schemeClr val="bg1"/>
              </a:solidFill>
            </a:endParaRPr>
          </a:p>
          <a:p>
            <a:endParaRPr lang="hr-HR" dirty="0"/>
          </a:p>
          <a:p>
            <a:r>
              <a:rPr lang="hr-HR" dirty="0"/>
              <a:t>✅ </a:t>
            </a:r>
            <a:r>
              <a:rPr lang="hr-HR" dirty="0">
                <a:solidFill>
                  <a:schemeClr val="bg1"/>
                </a:solidFill>
              </a:rPr>
              <a:t>Modularni dizajn spreman za proširenje</a:t>
            </a:r>
          </a:p>
          <a:p>
            <a:endParaRPr lang="hr-HR" dirty="0"/>
          </a:p>
          <a:p>
            <a:r>
              <a:rPr lang="hr-HR" dirty="0"/>
              <a:t>✅ </a:t>
            </a:r>
            <a:r>
              <a:rPr lang="hr-HR" dirty="0" err="1">
                <a:solidFill>
                  <a:schemeClr val="bg1"/>
                </a:solidFill>
              </a:rPr>
              <a:t>Production-ready</a:t>
            </a:r>
            <a:r>
              <a:rPr lang="hr-HR" dirty="0">
                <a:solidFill>
                  <a:schemeClr val="bg1"/>
                </a:solidFill>
              </a:rPr>
              <a:t> web aplikacija</a:t>
            </a:r>
          </a:p>
          <a:p>
            <a:endParaRPr lang="hr-H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89F53-19FB-EABA-5742-FF96EE17B0B8}"/>
              </a:ext>
            </a:extLst>
          </p:cNvPr>
          <p:cNvSpPr txBox="1"/>
          <p:nvPr/>
        </p:nvSpPr>
        <p:spPr>
          <a:xfrm>
            <a:off x="1111302" y="4870173"/>
            <a:ext cx="99693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Kombinacija tradicionalnog software </a:t>
            </a:r>
            <a:r>
              <a:rPr lang="hr-HR" dirty="0" err="1">
                <a:solidFill>
                  <a:schemeClr val="bg1"/>
                </a:solidFill>
              </a:rPr>
              <a:t>engineeringa</a:t>
            </a:r>
            <a:r>
              <a:rPr lang="hr-HR" dirty="0">
                <a:solidFill>
                  <a:schemeClr val="bg1"/>
                </a:solidFill>
              </a:rPr>
              <a:t>, </a:t>
            </a:r>
            <a:r>
              <a:rPr lang="pl-PL" dirty="0">
                <a:solidFill>
                  <a:schemeClr val="bg1"/>
                </a:solidFill>
              </a:rPr>
              <a:t>ML tehnologija i agent-based paradigme</a:t>
            </a:r>
            <a:br>
              <a:rPr lang="pl-PL" dirty="0">
                <a:solidFill>
                  <a:schemeClr val="bg1"/>
                </a:solidFill>
              </a:rPr>
            </a:br>
            <a:r>
              <a:rPr lang="pl-PL" dirty="0">
                <a:solidFill>
                  <a:schemeClr val="bg1"/>
                </a:solidFill>
              </a:rPr>
              <a:t>u funkcionalno </a:t>
            </a:r>
            <a:r>
              <a:rPr lang="hr-HR" dirty="0">
                <a:solidFill>
                  <a:schemeClr val="bg1"/>
                </a:solidFill>
              </a:rPr>
              <a:t>rješenje za automatizaciju identifikacije modnih trendova</a:t>
            </a:r>
          </a:p>
          <a:p>
            <a:r>
              <a:rPr lang="hr-HR" dirty="0">
                <a:solidFill>
                  <a:schemeClr val="bg1"/>
                </a:solidFill>
              </a:rPr>
              <a:t> </a:t>
            </a:r>
          </a:p>
          <a:p>
            <a:endParaRPr lang="hr-H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899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AD518-5032-0005-CD1A-C917A57C8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865AFB61-7457-09A1-5EBE-C719660A6C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2AF0B7-A914-8B3C-76FB-45A055E4145F}"/>
              </a:ext>
            </a:extLst>
          </p:cNvPr>
          <p:cNvSpPr txBox="1"/>
          <p:nvPr/>
        </p:nvSpPr>
        <p:spPr>
          <a:xfrm>
            <a:off x="3627783" y="2228671"/>
            <a:ext cx="32720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❓ PITANJA? </a:t>
            </a:r>
          </a:p>
          <a:p>
            <a:endParaRPr lang="hr-HR" sz="36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DFB2D19-9543-D503-F543-0664BC3E3616}"/>
              </a:ext>
            </a:extLst>
          </p:cNvPr>
          <p:cNvCxnSpPr/>
          <p:nvPr/>
        </p:nvCxnSpPr>
        <p:spPr>
          <a:xfrm>
            <a:off x="824948" y="4224130"/>
            <a:ext cx="10525539" cy="0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911FFF1-D902-6F88-2179-91ADB7E8CAA5}"/>
              </a:ext>
            </a:extLst>
          </p:cNvPr>
          <p:cNvSpPr txBox="1"/>
          <p:nvPr/>
        </p:nvSpPr>
        <p:spPr>
          <a:xfrm>
            <a:off x="3488635" y="4696095"/>
            <a:ext cx="4546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3600" dirty="0">
                <a:solidFill>
                  <a:schemeClr val="bg1"/>
                </a:solidFill>
              </a:rPr>
              <a:t>HVALA NA PAŽNJI !</a:t>
            </a:r>
          </a:p>
        </p:txBody>
      </p:sp>
    </p:spTree>
    <p:extLst>
      <p:ext uri="{BB962C8B-B14F-4D97-AF65-F5344CB8AC3E}">
        <p14:creationId xmlns:p14="http://schemas.microsoft.com/office/powerpoint/2010/main" val="384944516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</TotalTime>
  <Words>1515</Words>
  <Application>Microsoft Office PowerPoint</Application>
  <PresentationFormat>Widescreen</PresentationFormat>
  <Paragraphs>304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Neue Haas Grotesk Text Pro</vt:lpstr>
      <vt:lpstr>Wingdings</vt:lpstr>
      <vt:lpstr>VanillaVTI</vt:lpstr>
      <vt:lpstr>Fashion AI Agent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Hasna Bunar</dc:creator>
  <cp:lastModifiedBy>Hasna Bunar</cp:lastModifiedBy>
  <cp:revision>8</cp:revision>
  <dcterms:created xsi:type="dcterms:W3CDTF">2026-01-08T22:58:22Z</dcterms:created>
  <dcterms:modified xsi:type="dcterms:W3CDTF">2026-01-14T11:51:23Z</dcterms:modified>
</cp:coreProperties>
</file>